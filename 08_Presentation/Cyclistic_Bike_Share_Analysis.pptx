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12192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E276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1.png"/><Relationship Id="rId5" Type="http://schemas.openxmlformats.org/officeDocument/2006/relationships/image" Target="../media/image-9-1.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778240" y="3291840"/>
            <a:ext cx="5943600" cy="5943600"/>
          </a:xfrm>
          <a:prstGeom prst="ellipse">
            <a:avLst/>
          </a:prstGeom>
          <a:solidFill>
            <a:srgbClr val="EEF2FA"/>
          </a:solidFill>
          <a:ln/>
        </p:spPr>
      </p:sp>
      <p:sp>
        <p:nvSpPr>
          <p:cNvPr id="3" name="Shape 1"/>
          <p:cNvSpPr/>
          <p:nvPr/>
        </p:nvSpPr>
        <p:spPr>
          <a:xfrm>
            <a:off x="9692640" y="4206240"/>
            <a:ext cx="4114800" cy="4114800"/>
          </a:xfrm>
          <a:prstGeom prst="ellipse">
            <a:avLst/>
          </a:prstGeom>
          <a:solidFill>
            <a:srgbClr val="CADCFC"/>
          </a:solidFill>
          <a:ln/>
        </p:spPr>
      </p:sp>
      <p:sp>
        <p:nvSpPr>
          <p:cNvPr id="4" name="Shape 2"/>
          <p:cNvSpPr/>
          <p:nvPr/>
        </p:nvSpPr>
        <p:spPr>
          <a:xfrm>
            <a:off x="9281160" y="2331720"/>
            <a:ext cx="1920240" cy="1920240"/>
          </a:xfrm>
          <a:prstGeom prst="ellipse">
            <a:avLst/>
          </a:prstGeom>
          <a:solidFill>
            <a:srgbClr val="FFFFFF"/>
          </a:solidFill>
          <a:ln w="31750">
            <a:solidFill>
              <a:srgbClr val="1E2761"/>
            </a:solidFill>
            <a:prstDash val="solid"/>
          </a:ln>
          <a:effectLst>
            <a:outerShdw sx="100000" sy="100000" kx="0" ky="0" algn="bl" rotWithShape="0" blurRad="203200" dist="63500" dir="5400000">
              <a:srgbClr val="1E2761">
                <a:alpha val="25000"/>
              </a:srgbClr>
            </a:outerShdw>
          </a:effectLst>
        </p:spPr>
      </p:sp>
      <p:pic>
        <p:nvPicPr>
          <p:cNvPr id="5" name="Image 0" descr="/home/claude/assets/bike_icon.png">    </p:cNvPr>
          <p:cNvPicPr>
            <a:picLocks noChangeAspect="1"/>
          </p:cNvPicPr>
          <p:nvPr/>
        </p:nvPicPr>
        <p:blipFill>
          <a:blip r:embed="rId1"/>
          <a:stretch>
            <a:fillRect/>
          </a:stretch>
        </p:blipFill>
        <p:spPr>
          <a:xfrm>
            <a:off x="9646920" y="2697480"/>
            <a:ext cx="1188720" cy="1188720"/>
          </a:xfrm>
          <a:prstGeom prst="rect">
            <a:avLst/>
          </a:prstGeom>
        </p:spPr>
      </p:pic>
      <p:sp>
        <p:nvSpPr>
          <p:cNvPr id="6" name="Text 3"/>
          <p:cNvSpPr/>
          <p:nvPr/>
        </p:nvSpPr>
        <p:spPr>
          <a:xfrm>
            <a:off x="822960" y="1965960"/>
            <a:ext cx="7772400" cy="365760"/>
          </a:xfrm>
          <a:prstGeom prst="rect">
            <a:avLst/>
          </a:prstGeom>
          <a:noFill/>
          <a:ln/>
        </p:spPr>
        <p:txBody>
          <a:bodyPr wrap="square" rtlCol="0" anchor="ctr"/>
          <a:lstStyle/>
          <a:p>
            <a:pPr indent="0" marL="0">
              <a:buNone/>
            </a:pPr>
            <a:r>
              <a:rPr lang="en-US" sz="1300" b="1" spc="200" kern="0" dirty="0">
                <a:solidFill>
                  <a:srgbClr val="F2994A"/>
                </a:solidFill>
                <a:latin typeface="Calibri" pitchFamily="34" charset="0"/>
                <a:ea typeface="Calibri" pitchFamily="34" charset="-122"/>
                <a:cs typeface="Calibri" pitchFamily="34" charset="-120"/>
              </a:rPr>
              <a:t>GOOGLE DATA ANALYTICS CAPSTONE PROJECT</a:t>
            </a:r>
            <a:endParaRPr lang="en-US" sz="1300" dirty="0"/>
          </a:p>
        </p:txBody>
      </p:sp>
      <p:sp>
        <p:nvSpPr>
          <p:cNvPr id="7" name="Text 4"/>
          <p:cNvSpPr/>
          <p:nvPr/>
        </p:nvSpPr>
        <p:spPr>
          <a:xfrm>
            <a:off x="777240" y="2331720"/>
            <a:ext cx="7955280" cy="1737360"/>
          </a:xfrm>
          <a:prstGeom prst="rect">
            <a:avLst/>
          </a:prstGeom>
          <a:noFill/>
          <a:ln/>
        </p:spPr>
        <p:txBody>
          <a:bodyPr wrap="square" rtlCol="0" anchor="ctr"/>
          <a:lstStyle/>
          <a:p>
            <a:pPr indent="0" marL="0">
              <a:lnSpc>
                <a:spcPts val="5000"/>
              </a:lnSpc>
              <a:buNone/>
            </a:pPr>
            <a:r>
              <a:rPr lang="en-US" sz="4600" b="1" dirty="0">
                <a:solidFill>
                  <a:srgbClr val="1E2761"/>
                </a:solidFill>
                <a:latin typeface="Cambria" pitchFamily="34" charset="0"/>
                <a:ea typeface="Cambria" pitchFamily="34" charset="-122"/>
                <a:cs typeface="Cambria" pitchFamily="34" charset="-120"/>
              </a:rPr>
              <a:t>Cyclistic Bike Share</a:t>
            </a:r>
            <a:endParaRPr lang="en-US" sz="4600" dirty="0"/>
          </a:p>
          <a:p>
            <a:pPr indent="0" marL="0">
              <a:lnSpc>
                <a:spcPts val="5000"/>
              </a:lnSpc>
              <a:buNone/>
            </a:pPr>
            <a:r>
              <a:rPr lang="en-US" sz="4600" b="1" dirty="0">
                <a:solidFill>
                  <a:srgbClr val="1E2761"/>
                </a:solidFill>
                <a:latin typeface="Cambria" pitchFamily="34" charset="0"/>
                <a:ea typeface="Cambria" pitchFamily="34" charset="-122"/>
                <a:cs typeface="Cambria" pitchFamily="34" charset="-120"/>
              </a:rPr>
              <a:t>Analysis</a:t>
            </a:r>
            <a:endParaRPr lang="en-US" sz="4600" dirty="0"/>
          </a:p>
        </p:txBody>
      </p:sp>
      <p:sp>
        <p:nvSpPr>
          <p:cNvPr id="8" name="Shape 5"/>
          <p:cNvSpPr/>
          <p:nvPr/>
        </p:nvSpPr>
        <p:spPr>
          <a:xfrm>
            <a:off x="822960" y="4297680"/>
            <a:ext cx="914400" cy="0"/>
          </a:xfrm>
          <a:prstGeom prst="line">
            <a:avLst/>
          </a:prstGeom>
          <a:noFill/>
          <a:ln w="38100">
            <a:solidFill>
              <a:srgbClr val="F2994A"/>
            </a:solidFill>
            <a:prstDash val="solid"/>
          </a:ln>
        </p:spPr>
      </p:sp>
      <p:sp>
        <p:nvSpPr>
          <p:cNvPr id="9" name="Text 6"/>
          <p:cNvSpPr/>
          <p:nvPr/>
        </p:nvSpPr>
        <p:spPr>
          <a:xfrm>
            <a:off x="822960" y="4526280"/>
            <a:ext cx="7315200" cy="365760"/>
          </a:xfrm>
          <a:prstGeom prst="rect">
            <a:avLst/>
          </a:prstGeom>
          <a:noFill/>
          <a:ln/>
        </p:spPr>
        <p:txBody>
          <a:bodyPr wrap="square" rtlCol="0" anchor="ctr"/>
          <a:lstStyle/>
          <a:p>
            <a:pPr indent="0" marL="0">
              <a:buNone/>
            </a:pPr>
            <a:r>
              <a:rPr lang="en-US" sz="1400" dirty="0">
                <a:solidFill>
                  <a:srgbClr val="6B7280"/>
                </a:solidFill>
                <a:latin typeface="Calibri" pitchFamily="34" charset="0"/>
                <a:ea typeface="Calibri" pitchFamily="34" charset="-122"/>
                <a:cs typeface="Calibri" pitchFamily="34" charset="-120"/>
              </a:rPr>
              <a:t>Prepared by  </a:t>
            </a:r>
            <a:pPr indent="0" marL="0">
              <a:buNone/>
            </a:pPr>
            <a:r>
              <a:rPr lang="en-US" sz="1400" b="1" dirty="0">
                <a:solidFill>
                  <a:srgbClr val="1E2761"/>
                </a:solidFill>
                <a:latin typeface="Calibri" pitchFamily="34" charset="0"/>
                <a:ea typeface="Calibri" pitchFamily="34" charset="-122"/>
                <a:cs typeface="Calibri" pitchFamily="34" charset="-120"/>
              </a:rPr>
              <a:t>Abhirami Ananthakumar</a:t>
            </a:r>
            <a:endParaRPr lang="en-US" sz="1400" dirty="0"/>
          </a:p>
        </p:txBody>
      </p:sp>
      <p:sp>
        <p:nvSpPr>
          <p:cNvPr id="10" name="Text 7"/>
          <p:cNvSpPr/>
          <p:nvPr/>
        </p:nvSpPr>
        <p:spPr>
          <a:xfrm>
            <a:off x="822960" y="5074920"/>
            <a:ext cx="2743200" cy="274320"/>
          </a:xfrm>
          <a:prstGeom prst="rect">
            <a:avLst/>
          </a:prstGeom>
          <a:noFill/>
          <a:ln/>
        </p:spPr>
        <p:txBody>
          <a:bodyPr wrap="square" rtlCol="0" anchor="ctr"/>
          <a:lstStyle/>
          <a:p>
            <a:pPr indent="0" marL="0">
              <a:buNone/>
            </a:pPr>
            <a:r>
              <a:rPr lang="en-US" sz="1000" b="1" spc="200" kern="0" dirty="0">
                <a:solidFill>
                  <a:srgbClr val="6B7280"/>
                </a:solidFill>
                <a:latin typeface="Calibri" pitchFamily="34" charset="0"/>
                <a:ea typeface="Calibri" pitchFamily="34" charset="-122"/>
                <a:cs typeface="Calibri" pitchFamily="34" charset="-120"/>
              </a:rPr>
              <a:t>TOOLS</a:t>
            </a:r>
            <a:endParaRPr lang="en-US" sz="1000" dirty="0"/>
          </a:p>
        </p:txBody>
      </p:sp>
      <p:sp>
        <p:nvSpPr>
          <p:cNvPr id="11" name="Text 8"/>
          <p:cNvSpPr/>
          <p:nvPr/>
        </p:nvSpPr>
        <p:spPr>
          <a:xfrm>
            <a:off x="822960" y="5349240"/>
            <a:ext cx="8686800" cy="457200"/>
          </a:xfrm>
          <a:prstGeom prst="rect">
            <a:avLst/>
          </a:prstGeom>
          <a:noFill/>
          <a:ln/>
        </p:spPr>
        <p:txBody>
          <a:bodyPr wrap="square" rtlCol="0" anchor="ctr"/>
          <a:lstStyle/>
          <a:p>
            <a:pPr indent="0" marL="0">
              <a:buNone/>
            </a:pPr>
            <a:r>
              <a:rPr lang="en-US" sz="1300" dirty="0">
                <a:solidFill>
                  <a:srgbClr val="262B40"/>
                </a:solidFill>
                <a:latin typeface="Calibri" pitchFamily="34" charset="0"/>
                <a:ea typeface="Calibri" pitchFamily="34" charset="-122"/>
                <a:cs typeface="Calibri" pitchFamily="34" charset="-120"/>
              </a:rPr>
              <a:t>Google Sheets  •  R  •  Tableau  •  Google Docs  •  Google Slides  •  GitHub</a:t>
            </a:r>
            <a:endParaRPr lang="en-US" sz="1300" dirty="0"/>
          </a:p>
        </p:txBody>
      </p:sp>
      <p:sp>
        <p:nvSpPr>
          <p:cNvPr id="12" name="Text 9"/>
          <p:cNvSpPr/>
          <p:nvPr/>
        </p:nvSpPr>
        <p:spPr>
          <a:xfrm>
            <a:off x="822960" y="6126480"/>
            <a:ext cx="1828800" cy="36576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256032"/>
            <a:ext cx="7315200" cy="274320"/>
          </a:xfrm>
          <a:prstGeom prst="rect">
            <a:avLst/>
          </a:prstGeom>
          <a:noFill/>
          <a:ln/>
        </p:spPr>
        <p:txBody>
          <a:bodyPr wrap="square" rtlCol="0" anchor="ctr"/>
          <a:lstStyle/>
          <a:p>
            <a:pPr indent="0" marL="0">
              <a:buNone/>
            </a:pPr>
            <a:r>
              <a:rPr lang="en-US" sz="1100" b="1" spc="200" kern="0" dirty="0">
                <a:solidFill>
                  <a:srgbClr val="F2994A"/>
                </a:solidFill>
                <a:latin typeface="Calibri" pitchFamily="34" charset="0"/>
                <a:ea typeface="Calibri" pitchFamily="34" charset="-122"/>
                <a:cs typeface="Calibri" pitchFamily="34" charset="-120"/>
              </a:rPr>
              <a:t>TABLE OF CONTENTS</a:t>
            </a:r>
            <a:endParaRPr lang="en-US" sz="1100" dirty="0"/>
          </a:p>
        </p:txBody>
      </p:sp>
      <p:sp>
        <p:nvSpPr>
          <p:cNvPr id="3" name="Text 1"/>
          <p:cNvSpPr/>
          <p:nvPr/>
        </p:nvSpPr>
        <p:spPr>
          <a:xfrm>
            <a:off x="640080" y="457200"/>
            <a:ext cx="10881360" cy="73152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Agenda</a:t>
            </a:r>
            <a:endParaRPr lang="en-US" sz="3200" dirty="0"/>
          </a:p>
        </p:txBody>
      </p:sp>
      <p:sp>
        <p:nvSpPr>
          <p:cNvPr id="4" name="Shape 2"/>
          <p:cNvSpPr/>
          <p:nvPr/>
        </p:nvSpPr>
        <p:spPr>
          <a:xfrm>
            <a:off x="640080" y="1600200"/>
            <a:ext cx="384048" cy="384048"/>
          </a:xfrm>
          <a:prstGeom prst="ellipse">
            <a:avLst/>
          </a:prstGeom>
          <a:solidFill>
            <a:srgbClr val="EEF2FA"/>
          </a:solidFill>
          <a:ln/>
        </p:spPr>
      </p:sp>
      <p:sp>
        <p:nvSpPr>
          <p:cNvPr id="5" name="Text 3"/>
          <p:cNvSpPr/>
          <p:nvPr/>
        </p:nvSpPr>
        <p:spPr>
          <a:xfrm>
            <a:off x="640080" y="1600200"/>
            <a:ext cx="384048" cy="384048"/>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01</a:t>
            </a:r>
            <a:endParaRPr lang="en-US" sz="1200" dirty="0"/>
          </a:p>
        </p:txBody>
      </p:sp>
      <p:sp>
        <p:nvSpPr>
          <p:cNvPr id="6" name="Text 4"/>
          <p:cNvSpPr/>
          <p:nvPr/>
        </p:nvSpPr>
        <p:spPr>
          <a:xfrm>
            <a:off x="1170432" y="1581912"/>
            <a:ext cx="4663440" cy="420624"/>
          </a:xfrm>
          <a:prstGeom prst="rect">
            <a:avLst/>
          </a:prstGeom>
          <a:noFill/>
          <a:ln/>
        </p:spPr>
        <p:txBody>
          <a:bodyPr wrap="square" rtlCol="0" anchor="ctr"/>
          <a:lstStyle/>
          <a:p>
            <a:pPr indent="0" marL="0">
              <a:buNone/>
            </a:pPr>
            <a:r>
              <a:rPr lang="en-US" sz="1500" dirty="0">
                <a:solidFill>
                  <a:srgbClr val="262B40"/>
                </a:solidFill>
                <a:latin typeface="Calibri" pitchFamily="34" charset="0"/>
                <a:ea typeface="Calibri" pitchFamily="34" charset="-122"/>
                <a:cs typeface="Calibri" pitchFamily="34" charset="-120"/>
              </a:rPr>
              <a:t>Business Problem</a:t>
            </a:r>
            <a:endParaRPr lang="en-US" sz="1500" dirty="0"/>
          </a:p>
        </p:txBody>
      </p:sp>
      <p:sp>
        <p:nvSpPr>
          <p:cNvPr id="7" name="Shape 5"/>
          <p:cNvSpPr/>
          <p:nvPr/>
        </p:nvSpPr>
        <p:spPr>
          <a:xfrm>
            <a:off x="640080" y="2167128"/>
            <a:ext cx="384048" cy="384048"/>
          </a:xfrm>
          <a:prstGeom prst="ellipse">
            <a:avLst/>
          </a:prstGeom>
          <a:solidFill>
            <a:srgbClr val="EEF2FA"/>
          </a:solidFill>
          <a:ln/>
        </p:spPr>
      </p:sp>
      <p:sp>
        <p:nvSpPr>
          <p:cNvPr id="8" name="Text 6"/>
          <p:cNvSpPr/>
          <p:nvPr/>
        </p:nvSpPr>
        <p:spPr>
          <a:xfrm>
            <a:off x="640080" y="2167128"/>
            <a:ext cx="384048" cy="384048"/>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02</a:t>
            </a:r>
            <a:endParaRPr lang="en-US" sz="1200" dirty="0"/>
          </a:p>
        </p:txBody>
      </p:sp>
      <p:sp>
        <p:nvSpPr>
          <p:cNvPr id="9" name="Text 7"/>
          <p:cNvSpPr/>
          <p:nvPr/>
        </p:nvSpPr>
        <p:spPr>
          <a:xfrm>
            <a:off x="1170432" y="2148840"/>
            <a:ext cx="4663440" cy="420624"/>
          </a:xfrm>
          <a:prstGeom prst="rect">
            <a:avLst/>
          </a:prstGeom>
          <a:noFill/>
          <a:ln/>
        </p:spPr>
        <p:txBody>
          <a:bodyPr wrap="square" rtlCol="0" anchor="ctr"/>
          <a:lstStyle/>
          <a:p>
            <a:pPr indent="0" marL="0">
              <a:buNone/>
            </a:pPr>
            <a:r>
              <a:rPr lang="en-US" sz="1500" dirty="0">
                <a:solidFill>
                  <a:srgbClr val="262B40"/>
                </a:solidFill>
                <a:latin typeface="Calibri" pitchFamily="34" charset="0"/>
                <a:ea typeface="Calibri" pitchFamily="34" charset="-122"/>
                <a:cs typeface="Calibri" pitchFamily="34" charset="-120"/>
              </a:rPr>
              <a:t>Business Objective</a:t>
            </a:r>
            <a:endParaRPr lang="en-US" sz="1500" dirty="0"/>
          </a:p>
        </p:txBody>
      </p:sp>
      <p:sp>
        <p:nvSpPr>
          <p:cNvPr id="10" name="Shape 8"/>
          <p:cNvSpPr/>
          <p:nvPr/>
        </p:nvSpPr>
        <p:spPr>
          <a:xfrm>
            <a:off x="640080" y="2734056"/>
            <a:ext cx="384048" cy="384048"/>
          </a:xfrm>
          <a:prstGeom prst="ellipse">
            <a:avLst/>
          </a:prstGeom>
          <a:solidFill>
            <a:srgbClr val="EEF2FA"/>
          </a:solidFill>
          <a:ln/>
        </p:spPr>
      </p:sp>
      <p:sp>
        <p:nvSpPr>
          <p:cNvPr id="11" name="Text 9"/>
          <p:cNvSpPr/>
          <p:nvPr/>
        </p:nvSpPr>
        <p:spPr>
          <a:xfrm>
            <a:off x="640080" y="2734056"/>
            <a:ext cx="384048" cy="384048"/>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03</a:t>
            </a:r>
            <a:endParaRPr lang="en-US" sz="1200" dirty="0"/>
          </a:p>
        </p:txBody>
      </p:sp>
      <p:sp>
        <p:nvSpPr>
          <p:cNvPr id="12" name="Text 10"/>
          <p:cNvSpPr/>
          <p:nvPr/>
        </p:nvSpPr>
        <p:spPr>
          <a:xfrm>
            <a:off x="1170432" y="2715768"/>
            <a:ext cx="4663440" cy="420624"/>
          </a:xfrm>
          <a:prstGeom prst="rect">
            <a:avLst/>
          </a:prstGeom>
          <a:noFill/>
          <a:ln/>
        </p:spPr>
        <p:txBody>
          <a:bodyPr wrap="square" rtlCol="0" anchor="ctr"/>
          <a:lstStyle/>
          <a:p>
            <a:pPr indent="0" marL="0">
              <a:buNone/>
            </a:pPr>
            <a:r>
              <a:rPr lang="en-US" sz="1500" dirty="0">
                <a:solidFill>
                  <a:srgbClr val="262B40"/>
                </a:solidFill>
                <a:latin typeface="Calibri" pitchFamily="34" charset="0"/>
                <a:ea typeface="Calibri" pitchFamily="34" charset="-122"/>
                <a:cs typeface="Calibri" pitchFamily="34" charset="-120"/>
              </a:rPr>
              <a:t>Business Task</a:t>
            </a:r>
            <a:endParaRPr lang="en-US" sz="1500" dirty="0"/>
          </a:p>
        </p:txBody>
      </p:sp>
      <p:sp>
        <p:nvSpPr>
          <p:cNvPr id="13" name="Shape 11"/>
          <p:cNvSpPr/>
          <p:nvPr/>
        </p:nvSpPr>
        <p:spPr>
          <a:xfrm>
            <a:off x="640080" y="3300984"/>
            <a:ext cx="384048" cy="384048"/>
          </a:xfrm>
          <a:prstGeom prst="ellipse">
            <a:avLst/>
          </a:prstGeom>
          <a:solidFill>
            <a:srgbClr val="EEF2FA"/>
          </a:solidFill>
          <a:ln/>
        </p:spPr>
      </p:sp>
      <p:sp>
        <p:nvSpPr>
          <p:cNvPr id="14" name="Text 12"/>
          <p:cNvSpPr/>
          <p:nvPr/>
        </p:nvSpPr>
        <p:spPr>
          <a:xfrm>
            <a:off x="640080" y="3300984"/>
            <a:ext cx="384048" cy="384048"/>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04</a:t>
            </a:r>
            <a:endParaRPr lang="en-US" sz="1200" dirty="0"/>
          </a:p>
        </p:txBody>
      </p:sp>
      <p:sp>
        <p:nvSpPr>
          <p:cNvPr id="15" name="Text 13"/>
          <p:cNvSpPr/>
          <p:nvPr/>
        </p:nvSpPr>
        <p:spPr>
          <a:xfrm>
            <a:off x="1170432" y="3282696"/>
            <a:ext cx="4663440" cy="420624"/>
          </a:xfrm>
          <a:prstGeom prst="rect">
            <a:avLst/>
          </a:prstGeom>
          <a:noFill/>
          <a:ln/>
        </p:spPr>
        <p:txBody>
          <a:bodyPr wrap="square" rtlCol="0" anchor="ctr"/>
          <a:lstStyle/>
          <a:p>
            <a:pPr indent="0" marL="0">
              <a:buNone/>
            </a:pPr>
            <a:r>
              <a:rPr lang="en-US" sz="1500" dirty="0">
                <a:solidFill>
                  <a:srgbClr val="262B40"/>
                </a:solidFill>
                <a:latin typeface="Calibri" pitchFamily="34" charset="0"/>
                <a:ea typeface="Calibri" pitchFamily="34" charset="-122"/>
                <a:cs typeface="Calibri" pitchFamily="34" charset="-120"/>
              </a:rPr>
              <a:t>Dataset</a:t>
            </a:r>
            <a:endParaRPr lang="en-US" sz="1500" dirty="0"/>
          </a:p>
        </p:txBody>
      </p:sp>
      <p:sp>
        <p:nvSpPr>
          <p:cNvPr id="16" name="Shape 14"/>
          <p:cNvSpPr/>
          <p:nvPr/>
        </p:nvSpPr>
        <p:spPr>
          <a:xfrm>
            <a:off x="640080" y="3867912"/>
            <a:ext cx="384048" cy="384048"/>
          </a:xfrm>
          <a:prstGeom prst="ellipse">
            <a:avLst/>
          </a:prstGeom>
          <a:solidFill>
            <a:srgbClr val="EEF2FA"/>
          </a:solidFill>
          <a:ln/>
        </p:spPr>
      </p:sp>
      <p:sp>
        <p:nvSpPr>
          <p:cNvPr id="17" name="Text 15"/>
          <p:cNvSpPr/>
          <p:nvPr/>
        </p:nvSpPr>
        <p:spPr>
          <a:xfrm>
            <a:off x="640080" y="3867912"/>
            <a:ext cx="384048" cy="384048"/>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05</a:t>
            </a:r>
            <a:endParaRPr lang="en-US" sz="1200" dirty="0"/>
          </a:p>
        </p:txBody>
      </p:sp>
      <p:sp>
        <p:nvSpPr>
          <p:cNvPr id="18" name="Text 16"/>
          <p:cNvSpPr/>
          <p:nvPr/>
        </p:nvSpPr>
        <p:spPr>
          <a:xfrm>
            <a:off x="1170432" y="3849624"/>
            <a:ext cx="4663440" cy="420624"/>
          </a:xfrm>
          <a:prstGeom prst="rect">
            <a:avLst/>
          </a:prstGeom>
          <a:noFill/>
          <a:ln/>
        </p:spPr>
        <p:txBody>
          <a:bodyPr wrap="square" rtlCol="0" anchor="ctr"/>
          <a:lstStyle/>
          <a:p>
            <a:pPr indent="0" marL="0">
              <a:buNone/>
            </a:pPr>
            <a:r>
              <a:rPr lang="en-US" sz="1500" dirty="0">
                <a:solidFill>
                  <a:srgbClr val="262B40"/>
                </a:solidFill>
                <a:latin typeface="Calibri" pitchFamily="34" charset="0"/>
                <a:ea typeface="Calibri" pitchFamily="34" charset="-122"/>
                <a:cs typeface="Calibri" pitchFamily="34" charset="-120"/>
              </a:rPr>
              <a:t>Tools Used</a:t>
            </a:r>
            <a:endParaRPr lang="en-US" sz="1500" dirty="0"/>
          </a:p>
        </p:txBody>
      </p:sp>
      <p:sp>
        <p:nvSpPr>
          <p:cNvPr id="19" name="Shape 17"/>
          <p:cNvSpPr/>
          <p:nvPr/>
        </p:nvSpPr>
        <p:spPr>
          <a:xfrm>
            <a:off x="640080" y="4434840"/>
            <a:ext cx="384048" cy="384048"/>
          </a:xfrm>
          <a:prstGeom prst="ellipse">
            <a:avLst/>
          </a:prstGeom>
          <a:solidFill>
            <a:srgbClr val="EEF2FA"/>
          </a:solidFill>
          <a:ln/>
        </p:spPr>
      </p:sp>
      <p:sp>
        <p:nvSpPr>
          <p:cNvPr id="20" name="Text 18"/>
          <p:cNvSpPr/>
          <p:nvPr/>
        </p:nvSpPr>
        <p:spPr>
          <a:xfrm>
            <a:off x="640080" y="4434840"/>
            <a:ext cx="384048" cy="384048"/>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06</a:t>
            </a:r>
            <a:endParaRPr lang="en-US" sz="1200" dirty="0"/>
          </a:p>
        </p:txBody>
      </p:sp>
      <p:sp>
        <p:nvSpPr>
          <p:cNvPr id="21" name="Text 19"/>
          <p:cNvSpPr/>
          <p:nvPr/>
        </p:nvSpPr>
        <p:spPr>
          <a:xfrm>
            <a:off x="1170432" y="4416552"/>
            <a:ext cx="4663440" cy="420624"/>
          </a:xfrm>
          <a:prstGeom prst="rect">
            <a:avLst/>
          </a:prstGeom>
          <a:noFill/>
          <a:ln/>
        </p:spPr>
        <p:txBody>
          <a:bodyPr wrap="square" rtlCol="0" anchor="ctr"/>
          <a:lstStyle/>
          <a:p>
            <a:pPr indent="0" marL="0">
              <a:buNone/>
            </a:pPr>
            <a:r>
              <a:rPr lang="en-US" sz="1500" dirty="0">
                <a:solidFill>
                  <a:srgbClr val="262B40"/>
                </a:solidFill>
                <a:latin typeface="Calibri" pitchFamily="34" charset="0"/>
                <a:ea typeface="Calibri" pitchFamily="34" charset="-122"/>
                <a:cs typeface="Calibri" pitchFamily="34" charset="-120"/>
              </a:rPr>
              <a:t>Methodology</a:t>
            </a:r>
            <a:endParaRPr lang="en-US" sz="1500" dirty="0"/>
          </a:p>
        </p:txBody>
      </p:sp>
      <p:sp>
        <p:nvSpPr>
          <p:cNvPr id="22" name="Shape 20"/>
          <p:cNvSpPr/>
          <p:nvPr/>
        </p:nvSpPr>
        <p:spPr>
          <a:xfrm>
            <a:off x="640080" y="5001768"/>
            <a:ext cx="384048" cy="384048"/>
          </a:xfrm>
          <a:prstGeom prst="ellipse">
            <a:avLst/>
          </a:prstGeom>
          <a:solidFill>
            <a:srgbClr val="EEF2FA"/>
          </a:solidFill>
          <a:ln/>
        </p:spPr>
      </p:sp>
      <p:sp>
        <p:nvSpPr>
          <p:cNvPr id="23" name="Text 21"/>
          <p:cNvSpPr/>
          <p:nvPr/>
        </p:nvSpPr>
        <p:spPr>
          <a:xfrm>
            <a:off x="640080" y="5001768"/>
            <a:ext cx="384048" cy="384048"/>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07</a:t>
            </a:r>
            <a:endParaRPr lang="en-US" sz="1200" dirty="0"/>
          </a:p>
        </p:txBody>
      </p:sp>
      <p:sp>
        <p:nvSpPr>
          <p:cNvPr id="24" name="Text 22"/>
          <p:cNvSpPr/>
          <p:nvPr/>
        </p:nvSpPr>
        <p:spPr>
          <a:xfrm>
            <a:off x="1170432" y="4983480"/>
            <a:ext cx="4663440" cy="420624"/>
          </a:xfrm>
          <a:prstGeom prst="rect">
            <a:avLst/>
          </a:prstGeom>
          <a:noFill/>
          <a:ln/>
        </p:spPr>
        <p:txBody>
          <a:bodyPr wrap="square" rtlCol="0" anchor="ctr"/>
          <a:lstStyle/>
          <a:p>
            <a:pPr indent="0" marL="0">
              <a:buNone/>
            </a:pPr>
            <a:r>
              <a:rPr lang="en-US" sz="1500" dirty="0">
                <a:solidFill>
                  <a:srgbClr val="262B40"/>
                </a:solidFill>
                <a:latin typeface="Calibri" pitchFamily="34" charset="0"/>
                <a:ea typeface="Calibri" pitchFamily="34" charset="-122"/>
                <a:cs typeface="Calibri" pitchFamily="34" charset="-120"/>
              </a:rPr>
              <a:t>Data Cleaning</a:t>
            </a:r>
            <a:endParaRPr lang="en-US" sz="1500" dirty="0"/>
          </a:p>
        </p:txBody>
      </p:sp>
      <p:sp>
        <p:nvSpPr>
          <p:cNvPr id="25" name="Shape 23"/>
          <p:cNvSpPr/>
          <p:nvPr/>
        </p:nvSpPr>
        <p:spPr>
          <a:xfrm>
            <a:off x="6309360" y="1600200"/>
            <a:ext cx="384048" cy="384048"/>
          </a:xfrm>
          <a:prstGeom prst="ellipse">
            <a:avLst/>
          </a:prstGeom>
          <a:solidFill>
            <a:srgbClr val="EEF2FA"/>
          </a:solidFill>
          <a:ln/>
        </p:spPr>
      </p:sp>
      <p:sp>
        <p:nvSpPr>
          <p:cNvPr id="26" name="Text 24"/>
          <p:cNvSpPr/>
          <p:nvPr/>
        </p:nvSpPr>
        <p:spPr>
          <a:xfrm>
            <a:off x="6309360" y="1600200"/>
            <a:ext cx="384048" cy="384048"/>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08</a:t>
            </a:r>
            <a:endParaRPr lang="en-US" sz="1200" dirty="0"/>
          </a:p>
        </p:txBody>
      </p:sp>
      <p:sp>
        <p:nvSpPr>
          <p:cNvPr id="27" name="Text 25"/>
          <p:cNvSpPr/>
          <p:nvPr/>
        </p:nvSpPr>
        <p:spPr>
          <a:xfrm>
            <a:off x="6839712" y="1581912"/>
            <a:ext cx="4663440" cy="420624"/>
          </a:xfrm>
          <a:prstGeom prst="rect">
            <a:avLst/>
          </a:prstGeom>
          <a:noFill/>
          <a:ln/>
        </p:spPr>
        <p:txBody>
          <a:bodyPr wrap="square" rtlCol="0" anchor="ctr"/>
          <a:lstStyle/>
          <a:p>
            <a:pPr indent="0" marL="0">
              <a:buNone/>
            </a:pPr>
            <a:r>
              <a:rPr lang="en-US" sz="1500" dirty="0">
                <a:solidFill>
                  <a:srgbClr val="262B40"/>
                </a:solidFill>
                <a:latin typeface="Calibri" pitchFamily="34" charset="0"/>
                <a:ea typeface="Calibri" pitchFamily="34" charset="-122"/>
                <a:cs typeface="Calibri" pitchFamily="34" charset="-120"/>
              </a:rPr>
              <a:t>Dashboard</a:t>
            </a:r>
            <a:endParaRPr lang="en-US" sz="1500" dirty="0"/>
          </a:p>
        </p:txBody>
      </p:sp>
      <p:sp>
        <p:nvSpPr>
          <p:cNvPr id="28" name="Shape 26"/>
          <p:cNvSpPr/>
          <p:nvPr/>
        </p:nvSpPr>
        <p:spPr>
          <a:xfrm>
            <a:off x="6309360" y="2167128"/>
            <a:ext cx="384048" cy="384048"/>
          </a:xfrm>
          <a:prstGeom prst="ellipse">
            <a:avLst/>
          </a:prstGeom>
          <a:solidFill>
            <a:srgbClr val="EEF2FA"/>
          </a:solidFill>
          <a:ln/>
        </p:spPr>
      </p:sp>
      <p:sp>
        <p:nvSpPr>
          <p:cNvPr id="29" name="Text 27"/>
          <p:cNvSpPr/>
          <p:nvPr/>
        </p:nvSpPr>
        <p:spPr>
          <a:xfrm>
            <a:off x="6309360" y="2167128"/>
            <a:ext cx="384048" cy="384048"/>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09</a:t>
            </a:r>
            <a:endParaRPr lang="en-US" sz="1200" dirty="0"/>
          </a:p>
        </p:txBody>
      </p:sp>
      <p:sp>
        <p:nvSpPr>
          <p:cNvPr id="30" name="Text 28"/>
          <p:cNvSpPr/>
          <p:nvPr/>
        </p:nvSpPr>
        <p:spPr>
          <a:xfrm>
            <a:off x="6839712" y="2148840"/>
            <a:ext cx="4663440" cy="420624"/>
          </a:xfrm>
          <a:prstGeom prst="rect">
            <a:avLst/>
          </a:prstGeom>
          <a:noFill/>
          <a:ln/>
        </p:spPr>
        <p:txBody>
          <a:bodyPr wrap="square" rtlCol="0" anchor="ctr"/>
          <a:lstStyle/>
          <a:p>
            <a:pPr indent="0" marL="0">
              <a:buNone/>
            </a:pPr>
            <a:r>
              <a:rPr lang="en-US" sz="1500" dirty="0">
                <a:solidFill>
                  <a:srgbClr val="262B40"/>
                </a:solidFill>
                <a:latin typeface="Calibri" pitchFamily="34" charset="0"/>
                <a:ea typeface="Calibri" pitchFamily="34" charset="-122"/>
                <a:cs typeface="Calibri" pitchFamily="34" charset="-120"/>
              </a:rPr>
              <a:t>Key Findings</a:t>
            </a:r>
            <a:endParaRPr lang="en-US" sz="1500" dirty="0"/>
          </a:p>
        </p:txBody>
      </p:sp>
      <p:sp>
        <p:nvSpPr>
          <p:cNvPr id="31" name="Shape 29"/>
          <p:cNvSpPr/>
          <p:nvPr/>
        </p:nvSpPr>
        <p:spPr>
          <a:xfrm>
            <a:off x="6309360" y="2734056"/>
            <a:ext cx="384048" cy="384048"/>
          </a:xfrm>
          <a:prstGeom prst="ellipse">
            <a:avLst/>
          </a:prstGeom>
          <a:solidFill>
            <a:srgbClr val="EEF2FA"/>
          </a:solidFill>
          <a:ln/>
        </p:spPr>
      </p:sp>
      <p:sp>
        <p:nvSpPr>
          <p:cNvPr id="32" name="Text 30"/>
          <p:cNvSpPr/>
          <p:nvPr/>
        </p:nvSpPr>
        <p:spPr>
          <a:xfrm>
            <a:off x="6309360" y="2734056"/>
            <a:ext cx="384048" cy="384048"/>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10</a:t>
            </a:r>
            <a:endParaRPr lang="en-US" sz="1200" dirty="0"/>
          </a:p>
        </p:txBody>
      </p:sp>
      <p:sp>
        <p:nvSpPr>
          <p:cNvPr id="33" name="Text 31"/>
          <p:cNvSpPr/>
          <p:nvPr/>
        </p:nvSpPr>
        <p:spPr>
          <a:xfrm>
            <a:off x="6839712" y="2715768"/>
            <a:ext cx="4663440" cy="420624"/>
          </a:xfrm>
          <a:prstGeom prst="rect">
            <a:avLst/>
          </a:prstGeom>
          <a:noFill/>
          <a:ln/>
        </p:spPr>
        <p:txBody>
          <a:bodyPr wrap="square" rtlCol="0" anchor="ctr"/>
          <a:lstStyle/>
          <a:p>
            <a:pPr indent="0" marL="0">
              <a:buNone/>
            </a:pPr>
            <a:r>
              <a:rPr lang="en-US" sz="1500" dirty="0">
                <a:solidFill>
                  <a:srgbClr val="262B40"/>
                </a:solidFill>
                <a:latin typeface="Calibri" pitchFamily="34" charset="0"/>
                <a:ea typeface="Calibri" pitchFamily="34" charset="-122"/>
                <a:cs typeface="Calibri" pitchFamily="34" charset="-120"/>
              </a:rPr>
              <a:t>Business Recommendations</a:t>
            </a:r>
            <a:endParaRPr lang="en-US" sz="1500" dirty="0"/>
          </a:p>
        </p:txBody>
      </p:sp>
      <p:sp>
        <p:nvSpPr>
          <p:cNvPr id="34" name="Shape 32"/>
          <p:cNvSpPr/>
          <p:nvPr/>
        </p:nvSpPr>
        <p:spPr>
          <a:xfrm>
            <a:off x="6309360" y="3300984"/>
            <a:ext cx="384048" cy="384048"/>
          </a:xfrm>
          <a:prstGeom prst="ellipse">
            <a:avLst/>
          </a:prstGeom>
          <a:solidFill>
            <a:srgbClr val="EEF2FA"/>
          </a:solidFill>
          <a:ln/>
        </p:spPr>
      </p:sp>
      <p:sp>
        <p:nvSpPr>
          <p:cNvPr id="35" name="Text 33"/>
          <p:cNvSpPr/>
          <p:nvPr/>
        </p:nvSpPr>
        <p:spPr>
          <a:xfrm>
            <a:off x="6309360" y="3300984"/>
            <a:ext cx="384048" cy="384048"/>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11</a:t>
            </a:r>
            <a:endParaRPr lang="en-US" sz="1200" dirty="0"/>
          </a:p>
        </p:txBody>
      </p:sp>
      <p:sp>
        <p:nvSpPr>
          <p:cNvPr id="36" name="Text 34"/>
          <p:cNvSpPr/>
          <p:nvPr/>
        </p:nvSpPr>
        <p:spPr>
          <a:xfrm>
            <a:off x="6839712" y="3282696"/>
            <a:ext cx="4663440" cy="420624"/>
          </a:xfrm>
          <a:prstGeom prst="rect">
            <a:avLst/>
          </a:prstGeom>
          <a:noFill/>
          <a:ln/>
        </p:spPr>
        <p:txBody>
          <a:bodyPr wrap="square" rtlCol="0" anchor="ctr"/>
          <a:lstStyle/>
          <a:p>
            <a:pPr indent="0" marL="0">
              <a:buNone/>
            </a:pPr>
            <a:r>
              <a:rPr lang="en-US" sz="1500" dirty="0">
                <a:solidFill>
                  <a:srgbClr val="262B40"/>
                </a:solidFill>
                <a:latin typeface="Calibri" pitchFamily="34" charset="0"/>
                <a:ea typeface="Calibri" pitchFamily="34" charset="-122"/>
                <a:cs typeface="Calibri" pitchFamily="34" charset="-120"/>
              </a:rPr>
              <a:t>Expected Business Impact</a:t>
            </a:r>
            <a:endParaRPr lang="en-US" sz="1500" dirty="0"/>
          </a:p>
        </p:txBody>
      </p:sp>
      <p:sp>
        <p:nvSpPr>
          <p:cNvPr id="37" name="Shape 35"/>
          <p:cNvSpPr/>
          <p:nvPr/>
        </p:nvSpPr>
        <p:spPr>
          <a:xfrm>
            <a:off x="6309360" y="3867912"/>
            <a:ext cx="384048" cy="384048"/>
          </a:xfrm>
          <a:prstGeom prst="ellipse">
            <a:avLst/>
          </a:prstGeom>
          <a:solidFill>
            <a:srgbClr val="EEF2FA"/>
          </a:solidFill>
          <a:ln/>
        </p:spPr>
      </p:sp>
      <p:sp>
        <p:nvSpPr>
          <p:cNvPr id="38" name="Text 36"/>
          <p:cNvSpPr/>
          <p:nvPr/>
        </p:nvSpPr>
        <p:spPr>
          <a:xfrm>
            <a:off x="6309360" y="3867912"/>
            <a:ext cx="384048" cy="384048"/>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12</a:t>
            </a:r>
            <a:endParaRPr lang="en-US" sz="1200" dirty="0"/>
          </a:p>
        </p:txBody>
      </p:sp>
      <p:sp>
        <p:nvSpPr>
          <p:cNvPr id="39" name="Text 37"/>
          <p:cNvSpPr/>
          <p:nvPr/>
        </p:nvSpPr>
        <p:spPr>
          <a:xfrm>
            <a:off x="6839712" y="3849624"/>
            <a:ext cx="4663440" cy="420624"/>
          </a:xfrm>
          <a:prstGeom prst="rect">
            <a:avLst/>
          </a:prstGeom>
          <a:noFill/>
          <a:ln/>
        </p:spPr>
        <p:txBody>
          <a:bodyPr wrap="square" rtlCol="0" anchor="ctr"/>
          <a:lstStyle/>
          <a:p>
            <a:pPr indent="0" marL="0">
              <a:buNone/>
            </a:pPr>
            <a:r>
              <a:rPr lang="en-US" sz="1500" dirty="0">
                <a:solidFill>
                  <a:srgbClr val="262B40"/>
                </a:solidFill>
                <a:latin typeface="Calibri" pitchFamily="34" charset="0"/>
                <a:ea typeface="Calibri" pitchFamily="34" charset="-122"/>
                <a:cs typeface="Calibri" pitchFamily="34" charset="-120"/>
              </a:rPr>
              <a:t>Skills Demonstrated</a:t>
            </a:r>
            <a:endParaRPr lang="en-US" sz="1500" dirty="0"/>
          </a:p>
        </p:txBody>
      </p:sp>
      <p:sp>
        <p:nvSpPr>
          <p:cNvPr id="40" name="Shape 38"/>
          <p:cNvSpPr/>
          <p:nvPr/>
        </p:nvSpPr>
        <p:spPr>
          <a:xfrm>
            <a:off x="6309360" y="4434840"/>
            <a:ext cx="384048" cy="384048"/>
          </a:xfrm>
          <a:prstGeom prst="ellipse">
            <a:avLst/>
          </a:prstGeom>
          <a:solidFill>
            <a:srgbClr val="EEF2FA"/>
          </a:solidFill>
          <a:ln/>
        </p:spPr>
      </p:sp>
      <p:sp>
        <p:nvSpPr>
          <p:cNvPr id="41" name="Text 39"/>
          <p:cNvSpPr/>
          <p:nvPr/>
        </p:nvSpPr>
        <p:spPr>
          <a:xfrm>
            <a:off x="6309360" y="4434840"/>
            <a:ext cx="384048" cy="384048"/>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13</a:t>
            </a:r>
            <a:endParaRPr lang="en-US" sz="1200" dirty="0"/>
          </a:p>
        </p:txBody>
      </p:sp>
      <p:sp>
        <p:nvSpPr>
          <p:cNvPr id="42" name="Text 40"/>
          <p:cNvSpPr/>
          <p:nvPr/>
        </p:nvSpPr>
        <p:spPr>
          <a:xfrm>
            <a:off x="6839712" y="4416552"/>
            <a:ext cx="4663440" cy="420624"/>
          </a:xfrm>
          <a:prstGeom prst="rect">
            <a:avLst/>
          </a:prstGeom>
          <a:noFill/>
          <a:ln/>
        </p:spPr>
        <p:txBody>
          <a:bodyPr wrap="square" rtlCol="0" anchor="ctr"/>
          <a:lstStyle/>
          <a:p>
            <a:pPr indent="0" marL="0">
              <a:buNone/>
            </a:pPr>
            <a:r>
              <a:rPr lang="en-US" sz="1500" dirty="0">
                <a:solidFill>
                  <a:srgbClr val="262B40"/>
                </a:solidFill>
                <a:latin typeface="Calibri" pitchFamily="34" charset="0"/>
                <a:ea typeface="Calibri" pitchFamily="34" charset="-122"/>
                <a:cs typeface="Calibri" pitchFamily="34" charset="-120"/>
              </a:rPr>
              <a:t>Conclusion</a:t>
            </a:r>
            <a:endParaRPr lang="en-US" sz="1500" dirty="0"/>
          </a:p>
        </p:txBody>
      </p:sp>
      <p:sp>
        <p:nvSpPr>
          <p:cNvPr id="43" name="Text 41"/>
          <p:cNvSpPr/>
          <p:nvPr/>
        </p:nvSpPr>
        <p:spPr>
          <a:xfrm>
            <a:off x="457200" y="6473952"/>
            <a:ext cx="5486400" cy="274320"/>
          </a:xfrm>
          <a:prstGeom prst="rect">
            <a:avLst/>
          </a:prstGeom>
          <a:noFill/>
          <a:ln/>
        </p:spPr>
        <p:txBody>
          <a:bodyPr wrap="square" rtlCol="0" anchor="ctr"/>
          <a:lstStyle/>
          <a:p>
            <a:pPr algn="l" indent="0" marL="0">
              <a:buNone/>
            </a:pPr>
            <a:r>
              <a:rPr lang="en-US" sz="900" spc="150" kern="0" dirty="0">
                <a:solidFill>
                  <a:srgbClr val="6B7280"/>
                </a:solidFill>
                <a:latin typeface="Calibri" pitchFamily="34" charset="0"/>
                <a:ea typeface="Calibri" pitchFamily="34" charset="-122"/>
                <a:cs typeface="Calibri" pitchFamily="34" charset="-120"/>
              </a:rPr>
              <a:t>CYCLISTIC BIKE SHARE ANALYSIS</a:t>
            </a:r>
            <a:endParaRPr lang="en-US" sz="900" dirty="0"/>
          </a:p>
        </p:txBody>
      </p:sp>
      <p:sp>
        <p:nvSpPr>
          <p:cNvPr id="44" name="Text 4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8368" y="256032"/>
            <a:ext cx="7315200" cy="274320"/>
          </a:xfrm>
          <a:prstGeom prst="rect">
            <a:avLst/>
          </a:prstGeom>
          <a:noFill/>
          <a:ln/>
        </p:spPr>
        <p:txBody>
          <a:bodyPr wrap="square" rtlCol="0" anchor="ctr"/>
          <a:lstStyle/>
          <a:p>
            <a:pPr indent="0" marL="0">
              <a:buNone/>
            </a:pPr>
            <a:r>
              <a:rPr lang="en-US" sz="1100" b="1" spc="200" kern="0" dirty="0">
                <a:solidFill>
                  <a:srgbClr val="F2994A"/>
                </a:solidFill>
                <a:latin typeface="Calibri" pitchFamily="34" charset="0"/>
                <a:ea typeface="Calibri" pitchFamily="34" charset="-122"/>
                <a:cs typeface="Calibri" pitchFamily="34" charset="-120"/>
              </a:rPr>
              <a:t>SECTION 01</a:t>
            </a:r>
            <a:endParaRPr lang="en-US" sz="1100" dirty="0"/>
          </a:p>
        </p:txBody>
      </p:sp>
      <p:sp>
        <p:nvSpPr>
          <p:cNvPr id="3" name="Text 1"/>
          <p:cNvSpPr/>
          <p:nvPr/>
        </p:nvSpPr>
        <p:spPr>
          <a:xfrm>
            <a:off x="640080" y="457200"/>
            <a:ext cx="10881360" cy="73152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Business Problem</a:t>
            </a:r>
            <a:endParaRPr lang="en-US" sz="3200" dirty="0"/>
          </a:p>
        </p:txBody>
      </p:sp>
      <p:sp>
        <p:nvSpPr>
          <p:cNvPr id="4" name="Shape 2"/>
          <p:cNvSpPr/>
          <p:nvPr/>
        </p:nvSpPr>
        <p:spPr>
          <a:xfrm>
            <a:off x="640080" y="1691640"/>
            <a:ext cx="2468880" cy="1691640"/>
          </a:xfrm>
          <a:prstGeom prst="roundRect">
            <a:avLst>
              <a:gd name="adj" fmla="val 5405"/>
            </a:avLst>
          </a:prstGeom>
          <a:solidFill>
            <a:srgbClr val="EEF2FA"/>
          </a:solidFill>
          <a:ln/>
        </p:spPr>
      </p:sp>
      <p:pic>
        <p:nvPicPr>
          <p:cNvPr id="5" name="Image 0" descr="/home/claude/assets/award_navy.png">    </p:cNvPr>
          <p:cNvPicPr>
            <a:picLocks noChangeAspect="1"/>
          </p:cNvPicPr>
          <p:nvPr/>
        </p:nvPicPr>
        <p:blipFill>
          <a:blip r:embed="rId1"/>
          <a:stretch>
            <a:fillRect/>
          </a:stretch>
        </p:blipFill>
        <p:spPr>
          <a:xfrm>
            <a:off x="868680" y="1947672"/>
            <a:ext cx="502920" cy="502920"/>
          </a:xfrm>
          <a:prstGeom prst="rect">
            <a:avLst/>
          </a:prstGeom>
        </p:spPr>
      </p:pic>
      <p:sp>
        <p:nvSpPr>
          <p:cNvPr id="6" name="Text 3"/>
          <p:cNvSpPr/>
          <p:nvPr/>
        </p:nvSpPr>
        <p:spPr>
          <a:xfrm>
            <a:off x="868680" y="2587752"/>
            <a:ext cx="2011680" cy="640080"/>
          </a:xfrm>
          <a:prstGeom prst="rect">
            <a:avLst/>
          </a:prstGeom>
          <a:noFill/>
          <a:ln/>
        </p:spPr>
        <p:txBody>
          <a:bodyPr wrap="square"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Annual Members</a:t>
            </a:r>
            <a:endParaRPr lang="en-US" sz="1500" dirty="0"/>
          </a:p>
        </p:txBody>
      </p:sp>
      <p:sp>
        <p:nvSpPr>
          <p:cNvPr id="7" name="Shape 4"/>
          <p:cNvSpPr/>
          <p:nvPr/>
        </p:nvSpPr>
        <p:spPr>
          <a:xfrm>
            <a:off x="3429000" y="1691640"/>
            <a:ext cx="2468880" cy="1691640"/>
          </a:xfrm>
          <a:prstGeom prst="roundRect">
            <a:avLst>
              <a:gd name="adj" fmla="val 5405"/>
            </a:avLst>
          </a:prstGeom>
          <a:solidFill>
            <a:srgbClr val="EEF2FA"/>
          </a:solidFill>
          <a:ln/>
        </p:spPr>
      </p:sp>
      <p:pic>
        <p:nvPicPr>
          <p:cNvPr id="8" name="Image 1" descr="/home/claude/assets/users_navy.png">    </p:cNvPr>
          <p:cNvPicPr>
            <a:picLocks noChangeAspect="1"/>
          </p:cNvPicPr>
          <p:nvPr/>
        </p:nvPicPr>
        <p:blipFill>
          <a:blip r:embed="rId2"/>
          <a:stretch>
            <a:fillRect/>
          </a:stretch>
        </p:blipFill>
        <p:spPr>
          <a:xfrm>
            <a:off x="3657600" y="1947672"/>
            <a:ext cx="502920" cy="502920"/>
          </a:xfrm>
          <a:prstGeom prst="rect">
            <a:avLst/>
          </a:prstGeom>
        </p:spPr>
      </p:pic>
      <p:sp>
        <p:nvSpPr>
          <p:cNvPr id="9" name="Text 5"/>
          <p:cNvSpPr/>
          <p:nvPr/>
        </p:nvSpPr>
        <p:spPr>
          <a:xfrm>
            <a:off x="3657600" y="2587752"/>
            <a:ext cx="2011680" cy="640080"/>
          </a:xfrm>
          <a:prstGeom prst="rect">
            <a:avLst/>
          </a:prstGeom>
          <a:noFill/>
          <a:ln/>
        </p:spPr>
        <p:txBody>
          <a:bodyPr wrap="square"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Casual Riders</a:t>
            </a:r>
            <a:endParaRPr lang="en-US" sz="1500" dirty="0"/>
          </a:p>
        </p:txBody>
      </p:sp>
      <p:sp>
        <p:nvSpPr>
          <p:cNvPr id="10" name="Text 6"/>
          <p:cNvSpPr/>
          <p:nvPr/>
        </p:nvSpPr>
        <p:spPr>
          <a:xfrm>
            <a:off x="5806440" y="1691640"/>
            <a:ext cx="5760720" cy="4297680"/>
          </a:xfrm>
          <a:prstGeom prst="rect">
            <a:avLst/>
          </a:prstGeom>
          <a:noFill/>
          <a:ln/>
        </p:spPr>
        <p:txBody>
          <a:bodyPr wrap="square" rtlCol="0" anchor="t"/>
          <a:lstStyle/>
          <a:p>
            <a:pPr marL="342900" indent="-342900">
              <a:lnSpc>
                <a:spcPts val="2200"/>
              </a:lnSpc>
              <a:spcAft>
                <a:spcPts val="1600"/>
              </a:spcAft>
              <a:buSzPct val="100000"/>
              <a:buChar char="●"/>
            </a:pPr>
            <a:r>
              <a:rPr lang="en-US" sz="1500" dirty="0">
                <a:solidFill>
                  <a:srgbClr val="262B40"/>
                </a:solidFill>
                <a:latin typeface="Calibri" pitchFamily="34" charset="0"/>
                <a:ea typeface="Calibri" pitchFamily="34" charset="-122"/>
                <a:cs typeface="Calibri" pitchFamily="34" charset="-120"/>
              </a:rPr>
              <a:t>Cyclistic is a bike-share company serving riders through two membership options: annual members and casual riders.</a:t>
            </a:r>
            <a:endParaRPr lang="en-US" sz="1500" dirty="0"/>
          </a:p>
          <a:p>
            <a:pPr marL="342900" indent="-342900">
              <a:lnSpc>
                <a:spcPts val="2200"/>
              </a:lnSpc>
              <a:spcAft>
                <a:spcPts val="1600"/>
              </a:spcAft>
              <a:buSzPct val="100000"/>
              <a:buChar char="●"/>
            </a:pPr>
            <a:r>
              <a:rPr lang="en-US" sz="1500" dirty="0">
                <a:solidFill>
                  <a:srgbClr val="262B40"/>
                </a:solidFill>
                <a:latin typeface="Calibri" pitchFamily="34" charset="0"/>
                <a:ea typeface="Calibri" pitchFamily="34" charset="-122"/>
                <a:cs typeface="Calibri" pitchFamily="34" charset="-120"/>
              </a:rPr>
              <a:t>Casual riders use the service frequently but are less likely to purchase annual memberships.</a:t>
            </a:r>
            <a:endParaRPr lang="en-US" sz="1500" dirty="0"/>
          </a:p>
          <a:p>
            <a:pPr marL="342900" indent="-342900">
              <a:lnSpc>
                <a:spcPts val="2200"/>
              </a:lnSpc>
              <a:buSzPct val="100000"/>
              <a:buChar char="●"/>
            </a:pPr>
            <a:r>
              <a:rPr lang="en-US" sz="1500" dirty="0">
                <a:solidFill>
                  <a:srgbClr val="262B40"/>
                </a:solidFill>
                <a:latin typeface="Calibri" pitchFamily="34" charset="0"/>
                <a:ea typeface="Calibri" pitchFamily="34" charset="-122"/>
                <a:cs typeface="Calibri" pitchFamily="34" charset="-120"/>
              </a:rPr>
              <a:t>Increasing annual memberships is important because they provide more predictable, long-term revenue.</a:t>
            </a:r>
            <a:endParaRPr lang="en-US" sz="1500" dirty="0"/>
          </a:p>
        </p:txBody>
      </p:sp>
      <p:sp>
        <p:nvSpPr>
          <p:cNvPr id="11" name="Text 7"/>
          <p:cNvSpPr/>
          <p:nvPr/>
        </p:nvSpPr>
        <p:spPr>
          <a:xfrm>
            <a:off x="457200" y="6473952"/>
            <a:ext cx="5486400" cy="274320"/>
          </a:xfrm>
          <a:prstGeom prst="rect">
            <a:avLst/>
          </a:prstGeom>
          <a:noFill/>
          <a:ln/>
        </p:spPr>
        <p:txBody>
          <a:bodyPr wrap="square" rtlCol="0" anchor="ctr"/>
          <a:lstStyle/>
          <a:p>
            <a:pPr algn="l" indent="0" marL="0">
              <a:buNone/>
            </a:pPr>
            <a:r>
              <a:rPr lang="en-US" sz="900" spc="150" kern="0" dirty="0">
                <a:solidFill>
                  <a:srgbClr val="6B7280"/>
                </a:solidFill>
                <a:latin typeface="Calibri" pitchFamily="34" charset="0"/>
                <a:ea typeface="Calibri" pitchFamily="34" charset="-122"/>
                <a:cs typeface="Calibri" pitchFamily="34" charset="-120"/>
              </a:rPr>
              <a:t>CYCLISTIC BIKE SHARE ANALYSIS</a:t>
            </a:r>
            <a:endParaRPr lang="en-US" sz="900" dirty="0"/>
          </a:p>
        </p:txBody>
      </p:sp>
      <p:sp>
        <p:nvSpPr>
          <p:cNvPr id="12" name="Text 8"/>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8368" y="256032"/>
            <a:ext cx="7315200" cy="274320"/>
          </a:xfrm>
          <a:prstGeom prst="rect">
            <a:avLst/>
          </a:prstGeom>
          <a:noFill/>
          <a:ln/>
        </p:spPr>
        <p:txBody>
          <a:bodyPr wrap="square" rtlCol="0" anchor="ctr"/>
          <a:lstStyle/>
          <a:p>
            <a:pPr indent="0" marL="0">
              <a:buNone/>
            </a:pPr>
            <a:r>
              <a:rPr lang="en-US" sz="1100" b="1" spc="200" kern="0" dirty="0">
                <a:solidFill>
                  <a:srgbClr val="F2994A"/>
                </a:solidFill>
                <a:latin typeface="Calibri" pitchFamily="34" charset="0"/>
                <a:ea typeface="Calibri" pitchFamily="34" charset="-122"/>
                <a:cs typeface="Calibri" pitchFamily="34" charset="-120"/>
              </a:rPr>
              <a:t>SECTION 02</a:t>
            </a:r>
            <a:endParaRPr lang="en-US" sz="1100" dirty="0"/>
          </a:p>
        </p:txBody>
      </p:sp>
      <p:sp>
        <p:nvSpPr>
          <p:cNvPr id="3" name="Text 1"/>
          <p:cNvSpPr/>
          <p:nvPr/>
        </p:nvSpPr>
        <p:spPr>
          <a:xfrm>
            <a:off x="640080" y="457200"/>
            <a:ext cx="10881360" cy="73152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Business Objective</a:t>
            </a:r>
            <a:endParaRPr lang="en-US" sz="3200" dirty="0"/>
          </a:p>
        </p:txBody>
      </p:sp>
      <p:sp>
        <p:nvSpPr>
          <p:cNvPr id="4" name="Shape 2"/>
          <p:cNvSpPr/>
          <p:nvPr/>
        </p:nvSpPr>
        <p:spPr>
          <a:xfrm>
            <a:off x="640080" y="1920240"/>
            <a:ext cx="777240" cy="777240"/>
          </a:xfrm>
          <a:prstGeom prst="roundRect">
            <a:avLst>
              <a:gd name="adj" fmla="val 18824"/>
            </a:avLst>
          </a:prstGeom>
          <a:solidFill>
            <a:srgbClr val="EEF2FA"/>
          </a:solidFill>
          <a:ln w="19050">
            <a:solidFill>
              <a:srgbClr val="CADCFC"/>
            </a:solidFill>
            <a:prstDash val="solid"/>
          </a:ln>
        </p:spPr>
      </p:sp>
      <p:pic>
        <p:nvPicPr>
          <p:cNvPr id="5" name="Image 0" descr="/home/claude/assets/chartline_navy.png">    </p:cNvPr>
          <p:cNvPicPr>
            <a:picLocks noChangeAspect="1"/>
          </p:cNvPicPr>
          <p:nvPr/>
        </p:nvPicPr>
        <p:blipFill>
          <a:blip r:embed="rId1"/>
          <a:stretch>
            <a:fillRect/>
          </a:stretch>
        </p:blipFill>
        <p:spPr>
          <a:xfrm>
            <a:off x="822960" y="2103120"/>
            <a:ext cx="411480" cy="411480"/>
          </a:xfrm>
          <a:prstGeom prst="rect">
            <a:avLst/>
          </a:prstGeom>
        </p:spPr>
      </p:pic>
      <p:sp>
        <p:nvSpPr>
          <p:cNvPr id="6" name="Text 3"/>
          <p:cNvSpPr/>
          <p:nvPr/>
        </p:nvSpPr>
        <p:spPr>
          <a:xfrm>
            <a:off x="1691640" y="1874520"/>
            <a:ext cx="8961120" cy="868680"/>
          </a:xfrm>
          <a:prstGeom prst="rect">
            <a:avLst/>
          </a:prstGeom>
          <a:noFill/>
          <a:ln/>
        </p:spPr>
        <p:txBody>
          <a:bodyPr wrap="square" rtlCol="0" anchor="ctr"/>
          <a:lstStyle/>
          <a:p>
            <a:pPr indent="0" marL="0">
              <a:lnSpc>
                <a:spcPts val="2100"/>
              </a:lnSpc>
              <a:buNone/>
            </a:pPr>
            <a:r>
              <a:rPr lang="en-US" sz="1600" dirty="0">
                <a:solidFill>
                  <a:srgbClr val="262B40"/>
                </a:solidFill>
                <a:latin typeface="Calibri" pitchFamily="34" charset="0"/>
                <a:ea typeface="Calibri" pitchFamily="34" charset="-122"/>
                <a:cs typeface="Calibri" pitchFamily="34" charset="-120"/>
              </a:rPr>
              <a:t>Analyze 12 months of Cyclistic ride data to identify behavioral differences between annual members and casual riders.</a:t>
            </a:r>
            <a:endParaRPr lang="en-US" sz="1600" dirty="0"/>
          </a:p>
        </p:txBody>
      </p:sp>
      <p:sp>
        <p:nvSpPr>
          <p:cNvPr id="7" name="Shape 4"/>
          <p:cNvSpPr/>
          <p:nvPr/>
        </p:nvSpPr>
        <p:spPr>
          <a:xfrm>
            <a:off x="640080" y="3337560"/>
            <a:ext cx="777240" cy="777240"/>
          </a:xfrm>
          <a:prstGeom prst="roundRect">
            <a:avLst>
              <a:gd name="adj" fmla="val 18824"/>
            </a:avLst>
          </a:prstGeom>
          <a:solidFill>
            <a:srgbClr val="EEF2FA"/>
          </a:solidFill>
          <a:ln w="19050">
            <a:solidFill>
              <a:srgbClr val="CADCFC"/>
            </a:solidFill>
            <a:prstDash val="solid"/>
          </a:ln>
        </p:spPr>
      </p:sp>
      <p:pic>
        <p:nvPicPr>
          <p:cNvPr id="8" name="Image 1" descr="/home/claude/assets/bulb_navy.png">    </p:cNvPr>
          <p:cNvPicPr>
            <a:picLocks noChangeAspect="1"/>
          </p:cNvPicPr>
          <p:nvPr/>
        </p:nvPicPr>
        <p:blipFill>
          <a:blip r:embed="rId2"/>
          <a:stretch>
            <a:fillRect/>
          </a:stretch>
        </p:blipFill>
        <p:spPr>
          <a:xfrm>
            <a:off x="822960" y="3520440"/>
            <a:ext cx="411480" cy="411480"/>
          </a:xfrm>
          <a:prstGeom prst="rect">
            <a:avLst/>
          </a:prstGeom>
        </p:spPr>
      </p:pic>
      <p:sp>
        <p:nvSpPr>
          <p:cNvPr id="9" name="Text 5"/>
          <p:cNvSpPr/>
          <p:nvPr/>
        </p:nvSpPr>
        <p:spPr>
          <a:xfrm>
            <a:off x="1691640" y="3291840"/>
            <a:ext cx="8961120" cy="868680"/>
          </a:xfrm>
          <a:prstGeom prst="rect">
            <a:avLst/>
          </a:prstGeom>
          <a:noFill/>
          <a:ln/>
        </p:spPr>
        <p:txBody>
          <a:bodyPr wrap="square" rtlCol="0" anchor="ctr"/>
          <a:lstStyle/>
          <a:p>
            <a:pPr indent="0" marL="0">
              <a:lnSpc>
                <a:spcPts val="2100"/>
              </a:lnSpc>
              <a:buNone/>
            </a:pPr>
            <a:r>
              <a:rPr lang="en-US" sz="1600" dirty="0">
                <a:solidFill>
                  <a:srgbClr val="262B40"/>
                </a:solidFill>
                <a:latin typeface="Calibri" pitchFamily="34" charset="0"/>
                <a:ea typeface="Calibri" pitchFamily="34" charset="-122"/>
                <a:cs typeface="Calibri" pitchFamily="34" charset="-120"/>
              </a:rPr>
              <a:t>Provide data-driven recommendations to increase annual memberships.</a:t>
            </a:r>
            <a:endParaRPr lang="en-US" sz="1600" dirty="0"/>
          </a:p>
        </p:txBody>
      </p:sp>
      <p:sp>
        <p:nvSpPr>
          <p:cNvPr id="10" name="Text 6"/>
          <p:cNvSpPr/>
          <p:nvPr/>
        </p:nvSpPr>
        <p:spPr>
          <a:xfrm>
            <a:off x="457200" y="6473952"/>
            <a:ext cx="5486400" cy="274320"/>
          </a:xfrm>
          <a:prstGeom prst="rect">
            <a:avLst/>
          </a:prstGeom>
          <a:noFill/>
          <a:ln/>
        </p:spPr>
        <p:txBody>
          <a:bodyPr wrap="square" rtlCol="0" anchor="ctr"/>
          <a:lstStyle/>
          <a:p>
            <a:pPr algn="l" indent="0" marL="0">
              <a:buNone/>
            </a:pPr>
            <a:r>
              <a:rPr lang="en-US" sz="900" spc="150" kern="0" dirty="0">
                <a:solidFill>
                  <a:srgbClr val="6B7280"/>
                </a:solidFill>
                <a:latin typeface="Calibri" pitchFamily="34" charset="0"/>
                <a:ea typeface="Calibri" pitchFamily="34" charset="-122"/>
                <a:cs typeface="Calibri" pitchFamily="34" charset="-120"/>
              </a:rPr>
              <a:t>CYCLISTIC BIKE SHARE ANALYSIS</a:t>
            </a:r>
            <a:endParaRPr lang="en-US" sz="900" dirty="0"/>
          </a:p>
        </p:txBody>
      </p:sp>
      <p:sp>
        <p:nvSpPr>
          <p:cNvPr id="11" name="Text 7"/>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8368" y="256032"/>
            <a:ext cx="7315200" cy="274320"/>
          </a:xfrm>
          <a:prstGeom prst="rect">
            <a:avLst/>
          </a:prstGeom>
          <a:noFill/>
          <a:ln/>
        </p:spPr>
        <p:txBody>
          <a:bodyPr wrap="square" rtlCol="0" anchor="ctr"/>
          <a:lstStyle/>
          <a:p>
            <a:pPr indent="0" marL="0">
              <a:buNone/>
            </a:pPr>
            <a:r>
              <a:rPr lang="en-US" sz="1100" b="1" spc="200" kern="0" dirty="0">
                <a:solidFill>
                  <a:srgbClr val="F2994A"/>
                </a:solidFill>
                <a:latin typeface="Calibri" pitchFamily="34" charset="0"/>
                <a:ea typeface="Calibri" pitchFamily="34" charset="-122"/>
                <a:cs typeface="Calibri" pitchFamily="34" charset="-120"/>
              </a:rPr>
              <a:t>SECTION 03</a:t>
            </a:r>
            <a:endParaRPr lang="en-US" sz="1100" dirty="0"/>
          </a:p>
        </p:txBody>
      </p:sp>
      <p:sp>
        <p:nvSpPr>
          <p:cNvPr id="3" name="Text 1"/>
          <p:cNvSpPr/>
          <p:nvPr/>
        </p:nvSpPr>
        <p:spPr>
          <a:xfrm>
            <a:off x="640080" y="457200"/>
            <a:ext cx="10881360" cy="73152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Business Task</a:t>
            </a:r>
            <a:endParaRPr lang="en-US" sz="3200" dirty="0"/>
          </a:p>
        </p:txBody>
      </p:sp>
      <p:sp>
        <p:nvSpPr>
          <p:cNvPr id="4" name="Shape 2"/>
          <p:cNvSpPr/>
          <p:nvPr/>
        </p:nvSpPr>
        <p:spPr>
          <a:xfrm>
            <a:off x="640080" y="2103120"/>
            <a:ext cx="10908792" cy="2377440"/>
          </a:xfrm>
          <a:prstGeom prst="roundRect">
            <a:avLst>
              <a:gd name="adj" fmla="val 4615"/>
            </a:avLst>
          </a:prstGeom>
          <a:solidFill>
            <a:srgbClr val="EEF2FA"/>
          </a:solidFill>
          <a:ln/>
        </p:spPr>
      </p:sp>
      <p:sp>
        <p:nvSpPr>
          <p:cNvPr id="5" name="Shape 3"/>
          <p:cNvSpPr/>
          <p:nvPr/>
        </p:nvSpPr>
        <p:spPr>
          <a:xfrm>
            <a:off x="868680" y="2514600"/>
            <a:ext cx="82296" cy="1554480"/>
          </a:xfrm>
          <a:prstGeom prst="roundRect">
            <a:avLst/>
          </a:prstGeom>
          <a:solidFill>
            <a:srgbClr val="F2994A"/>
          </a:solidFill>
          <a:ln/>
        </p:spPr>
      </p:sp>
      <p:sp>
        <p:nvSpPr>
          <p:cNvPr id="6" name="Text 4"/>
          <p:cNvSpPr/>
          <p:nvPr/>
        </p:nvSpPr>
        <p:spPr>
          <a:xfrm>
            <a:off x="1280160" y="2331720"/>
            <a:ext cx="9875520" cy="1920240"/>
          </a:xfrm>
          <a:prstGeom prst="rect">
            <a:avLst/>
          </a:prstGeom>
          <a:noFill/>
          <a:ln/>
        </p:spPr>
        <p:txBody>
          <a:bodyPr wrap="square" rtlCol="0" anchor="ctr"/>
          <a:lstStyle/>
          <a:p>
            <a:pPr indent="0" marL="0">
              <a:lnSpc>
                <a:spcPts val="3200"/>
              </a:lnSpc>
              <a:buNone/>
            </a:pPr>
            <a:r>
              <a:rPr lang="en-US" sz="2400" i="1" dirty="0">
                <a:solidFill>
                  <a:srgbClr val="1E2761"/>
                </a:solidFill>
                <a:latin typeface="Cambria" pitchFamily="34" charset="0"/>
                <a:ea typeface="Cambria" pitchFamily="34" charset="-122"/>
                <a:cs typeface="Cambria" pitchFamily="34" charset="-120"/>
              </a:rPr>
              <a:t>Provide actionable insights that help Cyclistic's marketing team convert more casual riders into annual members.</a:t>
            </a:r>
            <a:endParaRPr lang="en-US" sz="2400" dirty="0"/>
          </a:p>
        </p:txBody>
      </p:sp>
      <p:sp>
        <p:nvSpPr>
          <p:cNvPr id="7" name="Text 5"/>
          <p:cNvSpPr/>
          <p:nvPr/>
        </p:nvSpPr>
        <p:spPr>
          <a:xfrm>
            <a:off x="457200" y="6473952"/>
            <a:ext cx="5486400" cy="274320"/>
          </a:xfrm>
          <a:prstGeom prst="rect">
            <a:avLst/>
          </a:prstGeom>
          <a:noFill/>
          <a:ln/>
        </p:spPr>
        <p:txBody>
          <a:bodyPr wrap="square" rtlCol="0" anchor="ctr"/>
          <a:lstStyle/>
          <a:p>
            <a:pPr algn="l" indent="0" marL="0">
              <a:buNone/>
            </a:pPr>
            <a:r>
              <a:rPr lang="en-US" sz="900" spc="150" kern="0" dirty="0">
                <a:solidFill>
                  <a:srgbClr val="6B7280"/>
                </a:solidFill>
                <a:latin typeface="Calibri" pitchFamily="34" charset="0"/>
                <a:ea typeface="Calibri" pitchFamily="34" charset="-122"/>
                <a:cs typeface="Calibri" pitchFamily="34" charset="-120"/>
              </a:rPr>
              <a:t>CYCLISTIC BIKE SHARE ANALYSIS</a:t>
            </a:r>
            <a:endParaRPr lang="en-US" sz="900" dirty="0"/>
          </a:p>
        </p:txBody>
      </p:sp>
      <p:sp>
        <p:nvSpPr>
          <p:cNvPr id="8" name="Text 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8368" y="256032"/>
            <a:ext cx="7315200" cy="274320"/>
          </a:xfrm>
          <a:prstGeom prst="rect">
            <a:avLst/>
          </a:prstGeom>
          <a:noFill/>
          <a:ln/>
        </p:spPr>
        <p:txBody>
          <a:bodyPr wrap="square" rtlCol="0" anchor="ctr"/>
          <a:lstStyle/>
          <a:p>
            <a:pPr indent="0" marL="0">
              <a:buNone/>
            </a:pPr>
            <a:r>
              <a:rPr lang="en-US" sz="1100" b="1" spc="200" kern="0" dirty="0">
                <a:solidFill>
                  <a:srgbClr val="F2994A"/>
                </a:solidFill>
                <a:latin typeface="Calibri" pitchFamily="34" charset="0"/>
                <a:ea typeface="Calibri" pitchFamily="34" charset="-122"/>
                <a:cs typeface="Calibri" pitchFamily="34" charset="-120"/>
              </a:rPr>
              <a:t>SECTION 04</a:t>
            </a:r>
            <a:endParaRPr lang="en-US" sz="1100" dirty="0"/>
          </a:p>
        </p:txBody>
      </p:sp>
      <p:sp>
        <p:nvSpPr>
          <p:cNvPr id="3" name="Text 1"/>
          <p:cNvSpPr/>
          <p:nvPr/>
        </p:nvSpPr>
        <p:spPr>
          <a:xfrm>
            <a:off x="640080" y="457200"/>
            <a:ext cx="10881360" cy="73152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Dataset</a:t>
            </a:r>
            <a:endParaRPr lang="en-US" sz="3200" dirty="0"/>
          </a:p>
        </p:txBody>
      </p:sp>
      <p:sp>
        <p:nvSpPr>
          <p:cNvPr id="4" name="Shape 2"/>
          <p:cNvSpPr/>
          <p:nvPr/>
        </p:nvSpPr>
        <p:spPr>
          <a:xfrm>
            <a:off x="640080" y="1828800"/>
            <a:ext cx="2514600" cy="2468880"/>
          </a:xfrm>
          <a:prstGeom prst="roundRect">
            <a:avLst>
              <a:gd name="adj" fmla="val 3704"/>
            </a:avLst>
          </a:prstGeom>
          <a:solidFill>
            <a:srgbClr val="FFFFFF"/>
          </a:solidFill>
          <a:ln w="19050">
            <a:solidFill>
              <a:srgbClr val="CADCFC"/>
            </a:solidFill>
            <a:prstDash val="solid"/>
          </a:ln>
          <a:effectLst>
            <a:outerShdw sx="100000" sy="100000" kx="0" ky="0" algn="bl" rotWithShape="0" blurRad="101600" dist="38100" dir="5400000">
              <a:srgbClr val="1E2761">
                <a:alpha val="12000"/>
              </a:srgbClr>
            </a:outerShdw>
          </a:effectLst>
        </p:spPr>
      </p:sp>
      <p:pic>
        <p:nvPicPr>
          <p:cNvPr id="5" name="Image 0" descr="/home/claude/assets/database_navy.png">    </p:cNvPr>
          <p:cNvPicPr>
            <a:picLocks noChangeAspect="1"/>
          </p:cNvPicPr>
          <p:nvPr/>
        </p:nvPicPr>
        <p:blipFill>
          <a:blip r:embed="rId1"/>
          <a:stretch>
            <a:fillRect/>
          </a:stretch>
        </p:blipFill>
        <p:spPr>
          <a:xfrm>
            <a:off x="868680" y="2084832"/>
            <a:ext cx="457200" cy="457200"/>
          </a:xfrm>
          <a:prstGeom prst="rect">
            <a:avLst/>
          </a:prstGeom>
        </p:spPr>
      </p:pic>
      <p:sp>
        <p:nvSpPr>
          <p:cNvPr id="6" name="Text 3"/>
          <p:cNvSpPr/>
          <p:nvPr/>
        </p:nvSpPr>
        <p:spPr>
          <a:xfrm>
            <a:off x="868680" y="2697480"/>
            <a:ext cx="2057400" cy="274320"/>
          </a:xfrm>
          <a:prstGeom prst="rect">
            <a:avLst/>
          </a:prstGeom>
          <a:noFill/>
          <a:ln/>
        </p:spPr>
        <p:txBody>
          <a:bodyPr wrap="square" rtlCol="0" anchor="ctr"/>
          <a:lstStyle/>
          <a:p>
            <a:pPr indent="0" marL="0">
              <a:buNone/>
            </a:pPr>
            <a:r>
              <a:rPr lang="en-US" sz="1000" b="1" spc="150" kern="0" dirty="0">
                <a:solidFill>
                  <a:srgbClr val="F2994A"/>
                </a:solidFill>
                <a:latin typeface="Calibri" pitchFamily="34" charset="0"/>
                <a:ea typeface="Calibri" pitchFamily="34" charset="-122"/>
                <a:cs typeface="Calibri" pitchFamily="34" charset="-120"/>
              </a:rPr>
              <a:t>SOURCE</a:t>
            </a:r>
            <a:endParaRPr lang="en-US" sz="1000" dirty="0"/>
          </a:p>
        </p:txBody>
      </p:sp>
      <p:sp>
        <p:nvSpPr>
          <p:cNvPr id="7" name="Text 4"/>
          <p:cNvSpPr/>
          <p:nvPr/>
        </p:nvSpPr>
        <p:spPr>
          <a:xfrm>
            <a:off x="868680" y="3017520"/>
            <a:ext cx="2057400" cy="1097280"/>
          </a:xfrm>
          <a:prstGeom prst="rect">
            <a:avLst/>
          </a:prstGeom>
          <a:noFill/>
          <a:ln/>
        </p:spPr>
        <p:txBody>
          <a:bodyPr wrap="square" rtlCol="0" anchor="ctr"/>
          <a:lstStyle/>
          <a:p>
            <a:pPr indent="0" marL="0">
              <a:lnSpc>
                <a:spcPts val="1800"/>
              </a:lnSpc>
              <a:buNone/>
            </a:pPr>
            <a:r>
              <a:rPr lang="en-US" sz="1450" b="1" dirty="0">
                <a:solidFill>
                  <a:srgbClr val="1E2761"/>
                </a:solidFill>
                <a:latin typeface="Calibri" pitchFamily="34" charset="0"/>
                <a:ea typeface="Calibri" pitchFamily="34" charset="-122"/>
                <a:cs typeface="Calibri" pitchFamily="34" charset="-120"/>
              </a:rPr>
              <a:t>Divvy Trip Data</a:t>
            </a:r>
            <a:endParaRPr lang="en-US" sz="1450" dirty="0"/>
          </a:p>
          <a:p>
            <a:pPr indent="0" marL="0">
              <a:lnSpc>
                <a:spcPts val="1800"/>
              </a:lnSpc>
              <a:buNone/>
            </a:pPr>
            <a:r>
              <a:rPr lang="en-US" sz="1450" b="1" dirty="0">
                <a:solidFill>
                  <a:srgbClr val="1E2761"/>
                </a:solidFill>
                <a:latin typeface="Calibri" pitchFamily="34" charset="0"/>
                <a:ea typeface="Calibri" pitchFamily="34" charset="-122"/>
                <a:cs typeface="Calibri" pitchFamily="34" charset="-120"/>
              </a:rPr>
              <a:t>(Cyclistic)</a:t>
            </a:r>
            <a:endParaRPr lang="en-US" sz="1450" dirty="0"/>
          </a:p>
        </p:txBody>
      </p:sp>
      <p:sp>
        <p:nvSpPr>
          <p:cNvPr id="8" name="Shape 5"/>
          <p:cNvSpPr/>
          <p:nvPr/>
        </p:nvSpPr>
        <p:spPr>
          <a:xfrm>
            <a:off x="3383280" y="1828800"/>
            <a:ext cx="2514600" cy="2468880"/>
          </a:xfrm>
          <a:prstGeom prst="roundRect">
            <a:avLst>
              <a:gd name="adj" fmla="val 3704"/>
            </a:avLst>
          </a:prstGeom>
          <a:solidFill>
            <a:srgbClr val="FFFFFF"/>
          </a:solidFill>
          <a:ln w="19050">
            <a:solidFill>
              <a:srgbClr val="CADCFC"/>
            </a:solidFill>
            <a:prstDash val="solid"/>
          </a:ln>
          <a:effectLst>
            <a:outerShdw sx="100000" sy="100000" kx="0" ky="0" algn="bl" rotWithShape="0" blurRad="101600" dist="38100" dir="5400000">
              <a:srgbClr val="1E2761">
                <a:alpha val="12000"/>
              </a:srgbClr>
            </a:outerShdw>
          </a:effectLst>
        </p:spPr>
      </p:sp>
      <p:pic>
        <p:nvPicPr>
          <p:cNvPr id="9" name="Image 1" descr="/home/claude/assets/calendar_navy.png">    </p:cNvPr>
          <p:cNvPicPr>
            <a:picLocks noChangeAspect="1"/>
          </p:cNvPicPr>
          <p:nvPr/>
        </p:nvPicPr>
        <p:blipFill>
          <a:blip r:embed="rId2"/>
          <a:stretch>
            <a:fillRect/>
          </a:stretch>
        </p:blipFill>
        <p:spPr>
          <a:xfrm>
            <a:off x="3611880" y="2084832"/>
            <a:ext cx="457200" cy="457200"/>
          </a:xfrm>
          <a:prstGeom prst="rect">
            <a:avLst/>
          </a:prstGeom>
        </p:spPr>
      </p:pic>
      <p:sp>
        <p:nvSpPr>
          <p:cNvPr id="10" name="Text 6"/>
          <p:cNvSpPr/>
          <p:nvPr/>
        </p:nvSpPr>
        <p:spPr>
          <a:xfrm>
            <a:off x="3611880" y="2697480"/>
            <a:ext cx="2057400" cy="274320"/>
          </a:xfrm>
          <a:prstGeom prst="rect">
            <a:avLst/>
          </a:prstGeom>
          <a:noFill/>
          <a:ln/>
        </p:spPr>
        <p:txBody>
          <a:bodyPr wrap="square" rtlCol="0" anchor="ctr"/>
          <a:lstStyle/>
          <a:p>
            <a:pPr indent="0" marL="0">
              <a:buNone/>
            </a:pPr>
            <a:r>
              <a:rPr lang="en-US" sz="1000" b="1" spc="150" kern="0" dirty="0">
                <a:solidFill>
                  <a:srgbClr val="F2994A"/>
                </a:solidFill>
                <a:latin typeface="Calibri" pitchFamily="34" charset="0"/>
                <a:ea typeface="Calibri" pitchFamily="34" charset="-122"/>
                <a:cs typeface="Calibri" pitchFamily="34" charset="-120"/>
              </a:rPr>
              <a:t>PERIOD</a:t>
            </a:r>
            <a:endParaRPr lang="en-US" sz="1000" dirty="0"/>
          </a:p>
        </p:txBody>
      </p:sp>
      <p:sp>
        <p:nvSpPr>
          <p:cNvPr id="11" name="Text 7"/>
          <p:cNvSpPr/>
          <p:nvPr/>
        </p:nvSpPr>
        <p:spPr>
          <a:xfrm>
            <a:off x="3611880" y="3017520"/>
            <a:ext cx="2057400" cy="1097280"/>
          </a:xfrm>
          <a:prstGeom prst="rect">
            <a:avLst/>
          </a:prstGeom>
          <a:noFill/>
          <a:ln/>
        </p:spPr>
        <p:txBody>
          <a:bodyPr wrap="square" rtlCol="0" anchor="ctr"/>
          <a:lstStyle/>
          <a:p>
            <a:pPr indent="0" marL="0">
              <a:lnSpc>
                <a:spcPts val="1800"/>
              </a:lnSpc>
              <a:buNone/>
            </a:pPr>
            <a:r>
              <a:rPr lang="en-US" sz="1450" b="1" dirty="0">
                <a:solidFill>
                  <a:srgbClr val="1E2761"/>
                </a:solidFill>
                <a:latin typeface="Calibri" pitchFamily="34" charset="0"/>
                <a:ea typeface="Calibri" pitchFamily="34" charset="-122"/>
                <a:cs typeface="Calibri" pitchFamily="34" charset="-120"/>
              </a:rPr>
              <a:t>Jul 2025 – Jun 2026</a:t>
            </a:r>
            <a:endParaRPr lang="en-US" sz="1450" dirty="0"/>
          </a:p>
          <a:p>
            <a:pPr indent="0" marL="0">
              <a:lnSpc>
                <a:spcPts val="1800"/>
              </a:lnSpc>
              <a:buNone/>
            </a:pPr>
            <a:r>
              <a:rPr lang="en-US" sz="1450" b="1" dirty="0">
                <a:solidFill>
                  <a:srgbClr val="1E2761"/>
                </a:solidFill>
                <a:latin typeface="Calibri" pitchFamily="34" charset="0"/>
                <a:ea typeface="Calibri" pitchFamily="34" charset="-122"/>
                <a:cs typeface="Calibri" pitchFamily="34" charset="-120"/>
              </a:rPr>
              <a:t>(12 months)</a:t>
            </a:r>
            <a:endParaRPr lang="en-US" sz="1450" dirty="0"/>
          </a:p>
        </p:txBody>
      </p:sp>
      <p:sp>
        <p:nvSpPr>
          <p:cNvPr id="12" name="Shape 8"/>
          <p:cNvSpPr/>
          <p:nvPr/>
        </p:nvSpPr>
        <p:spPr>
          <a:xfrm>
            <a:off x="6126480" y="1828800"/>
            <a:ext cx="2514600" cy="2468880"/>
          </a:xfrm>
          <a:prstGeom prst="roundRect">
            <a:avLst>
              <a:gd name="adj" fmla="val 3704"/>
            </a:avLst>
          </a:prstGeom>
          <a:solidFill>
            <a:srgbClr val="FFFFFF"/>
          </a:solidFill>
          <a:ln w="19050">
            <a:solidFill>
              <a:srgbClr val="CADCFC"/>
            </a:solidFill>
            <a:prstDash val="solid"/>
          </a:ln>
          <a:effectLst>
            <a:outerShdw sx="100000" sy="100000" kx="0" ky="0" algn="bl" rotWithShape="0" blurRad="101600" dist="38100" dir="5400000">
              <a:srgbClr val="1E2761">
                <a:alpha val="12000"/>
              </a:srgbClr>
            </a:outerShdw>
          </a:effectLst>
        </p:spPr>
      </p:sp>
      <p:pic>
        <p:nvPicPr>
          <p:cNvPr id="13" name="Image 2" descr="/home/claude/assets/chartbar_navy.png">    </p:cNvPr>
          <p:cNvPicPr>
            <a:picLocks noChangeAspect="1"/>
          </p:cNvPicPr>
          <p:nvPr/>
        </p:nvPicPr>
        <p:blipFill>
          <a:blip r:embed="rId3"/>
          <a:stretch>
            <a:fillRect/>
          </a:stretch>
        </p:blipFill>
        <p:spPr>
          <a:xfrm>
            <a:off x="6355080" y="2084832"/>
            <a:ext cx="457200" cy="457200"/>
          </a:xfrm>
          <a:prstGeom prst="rect">
            <a:avLst/>
          </a:prstGeom>
        </p:spPr>
      </p:pic>
      <p:sp>
        <p:nvSpPr>
          <p:cNvPr id="14" name="Text 9"/>
          <p:cNvSpPr/>
          <p:nvPr/>
        </p:nvSpPr>
        <p:spPr>
          <a:xfrm>
            <a:off x="6355080" y="2697480"/>
            <a:ext cx="2057400" cy="274320"/>
          </a:xfrm>
          <a:prstGeom prst="rect">
            <a:avLst/>
          </a:prstGeom>
          <a:noFill/>
          <a:ln/>
        </p:spPr>
        <p:txBody>
          <a:bodyPr wrap="square" rtlCol="0" anchor="ctr"/>
          <a:lstStyle/>
          <a:p>
            <a:pPr indent="0" marL="0">
              <a:buNone/>
            </a:pPr>
            <a:r>
              <a:rPr lang="en-US" sz="1000" b="1" spc="150" kern="0" dirty="0">
                <a:solidFill>
                  <a:srgbClr val="F2994A"/>
                </a:solidFill>
                <a:latin typeface="Calibri" pitchFamily="34" charset="0"/>
                <a:ea typeface="Calibri" pitchFamily="34" charset="-122"/>
                <a:cs typeface="Calibri" pitchFamily="34" charset="-120"/>
              </a:rPr>
              <a:t>TOTAL RECORDS</a:t>
            </a:r>
            <a:endParaRPr lang="en-US" sz="1000" dirty="0"/>
          </a:p>
        </p:txBody>
      </p:sp>
      <p:sp>
        <p:nvSpPr>
          <p:cNvPr id="15" name="Text 10"/>
          <p:cNvSpPr/>
          <p:nvPr/>
        </p:nvSpPr>
        <p:spPr>
          <a:xfrm>
            <a:off x="6355080" y="3017520"/>
            <a:ext cx="2057400" cy="1097280"/>
          </a:xfrm>
          <a:prstGeom prst="rect">
            <a:avLst/>
          </a:prstGeom>
          <a:noFill/>
          <a:ln/>
        </p:spPr>
        <p:txBody>
          <a:bodyPr wrap="square" rtlCol="0" anchor="ctr"/>
          <a:lstStyle/>
          <a:p>
            <a:pPr indent="0" marL="0">
              <a:lnSpc>
                <a:spcPts val="1800"/>
              </a:lnSpc>
              <a:buNone/>
            </a:pPr>
            <a:r>
              <a:rPr lang="en-US" sz="1450" b="1" dirty="0">
                <a:solidFill>
                  <a:srgbClr val="1E2761"/>
                </a:solidFill>
                <a:latin typeface="Calibri" pitchFamily="34" charset="0"/>
                <a:ea typeface="Calibri" pitchFamily="34" charset="-122"/>
                <a:cs typeface="Calibri" pitchFamily="34" charset="-120"/>
              </a:rPr>
              <a:t>5.93 Million</a:t>
            </a:r>
            <a:endParaRPr lang="en-US" sz="1450" dirty="0"/>
          </a:p>
          <a:p>
            <a:pPr indent="0" marL="0">
              <a:lnSpc>
                <a:spcPts val="1800"/>
              </a:lnSpc>
              <a:buNone/>
            </a:pPr>
            <a:r>
              <a:rPr lang="en-US" sz="1450" b="1" dirty="0">
                <a:solidFill>
                  <a:srgbClr val="1E2761"/>
                </a:solidFill>
                <a:latin typeface="Calibri" pitchFamily="34" charset="0"/>
                <a:ea typeface="Calibri" pitchFamily="34" charset="-122"/>
                <a:cs typeface="Calibri" pitchFamily="34" charset="-120"/>
              </a:rPr>
              <a:t>Rides</a:t>
            </a:r>
            <a:endParaRPr lang="en-US" sz="1450" dirty="0"/>
          </a:p>
        </p:txBody>
      </p:sp>
      <p:sp>
        <p:nvSpPr>
          <p:cNvPr id="16" name="Shape 11"/>
          <p:cNvSpPr/>
          <p:nvPr/>
        </p:nvSpPr>
        <p:spPr>
          <a:xfrm>
            <a:off x="8869680" y="1828800"/>
            <a:ext cx="2514600" cy="2468880"/>
          </a:xfrm>
          <a:prstGeom prst="roundRect">
            <a:avLst>
              <a:gd name="adj" fmla="val 3704"/>
            </a:avLst>
          </a:prstGeom>
          <a:solidFill>
            <a:srgbClr val="FFFFFF"/>
          </a:solidFill>
          <a:ln w="19050">
            <a:solidFill>
              <a:srgbClr val="CADCFC"/>
            </a:solidFill>
            <a:prstDash val="solid"/>
          </a:ln>
          <a:effectLst>
            <a:outerShdw sx="100000" sy="100000" kx="0" ky="0" algn="bl" rotWithShape="0" blurRad="101600" dist="38100" dir="5400000">
              <a:srgbClr val="1E2761">
                <a:alpha val="12000"/>
              </a:srgbClr>
            </a:outerShdw>
          </a:effectLst>
        </p:spPr>
      </p:sp>
      <p:pic>
        <p:nvPicPr>
          <p:cNvPr id="17" name="Image 3" descr="/home/claude/assets/csv_navy.png">    </p:cNvPr>
          <p:cNvPicPr>
            <a:picLocks noChangeAspect="1"/>
          </p:cNvPicPr>
          <p:nvPr/>
        </p:nvPicPr>
        <p:blipFill>
          <a:blip r:embed="rId4"/>
          <a:stretch>
            <a:fillRect/>
          </a:stretch>
        </p:blipFill>
        <p:spPr>
          <a:xfrm>
            <a:off x="9098280" y="2084832"/>
            <a:ext cx="457200" cy="457200"/>
          </a:xfrm>
          <a:prstGeom prst="rect">
            <a:avLst/>
          </a:prstGeom>
        </p:spPr>
      </p:pic>
      <p:sp>
        <p:nvSpPr>
          <p:cNvPr id="18" name="Text 12"/>
          <p:cNvSpPr/>
          <p:nvPr/>
        </p:nvSpPr>
        <p:spPr>
          <a:xfrm>
            <a:off x="9098280" y="2697480"/>
            <a:ext cx="2057400" cy="274320"/>
          </a:xfrm>
          <a:prstGeom prst="rect">
            <a:avLst/>
          </a:prstGeom>
          <a:noFill/>
          <a:ln/>
        </p:spPr>
        <p:txBody>
          <a:bodyPr wrap="square" rtlCol="0" anchor="ctr"/>
          <a:lstStyle/>
          <a:p>
            <a:pPr indent="0" marL="0">
              <a:buNone/>
            </a:pPr>
            <a:r>
              <a:rPr lang="en-US" sz="1000" b="1" spc="150" kern="0" dirty="0">
                <a:solidFill>
                  <a:srgbClr val="F2994A"/>
                </a:solidFill>
                <a:latin typeface="Calibri" pitchFamily="34" charset="0"/>
                <a:ea typeface="Calibri" pitchFamily="34" charset="-122"/>
                <a:cs typeface="Calibri" pitchFamily="34" charset="-120"/>
              </a:rPr>
              <a:t>FORMAT</a:t>
            </a:r>
            <a:endParaRPr lang="en-US" sz="1000" dirty="0"/>
          </a:p>
        </p:txBody>
      </p:sp>
      <p:sp>
        <p:nvSpPr>
          <p:cNvPr id="19" name="Text 13"/>
          <p:cNvSpPr/>
          <p:nvPr/>
        </p:nvSpPr>
        <p:spPr>
          <a:xfrm>
            <a:off x="9098280" y="3017520"/>
            <a:ext cx="2057400" cy="1097280"/>
          </a:xfrm>
          <a:prstGeom prst="rect">
            <a:avLst/>
          </a:prstGeom>
          <a:noFill/>
          <a:ln/>
        </p:spPr>
        <p:txBody>
          <a:bodyPr wrap="square" rtlCol="0" anchor="ctr"/>
          <a:lstStyle/>
          <a:p>
            <a:pPr indent="0" marL="0">
              <a:lnSpc>
                <a:spcPts val="1800"/>
              </a:lnSpc>
              <a:buNone/>
            </a:pPr>
            <a:r>
              <a:rPr lang="en-US" sz="1450" b="1" dirty="0">
                <a:solidFill>
                  <a:srgbClr val="1E2761"/>
                </a:solidFill>
                <a:latin typeface="Calibri" pitchFamily="34" charset="0"/>
                <a:ea typeface="Calibri" pitchFamily="34" charset="-122"/>
                <a:cs typeface="Calibri" pitchFamily="34" charset="-120"/>
              </a:rPr>
              <a:t>Monthly CSV</a:t>
            </a:r>
            <a:endParaRPr lang="en-US" sz="1450" dirty="0"/>
          </a:p>
          <a:p>
            <a:pPr indent="0" marL="0">
              <a:lnSpc>
                <a:spcPts val="1800"/>
              </a:lnSpc>
              <a:buNone/>
            </a:pPr>
            <a:r>
              <a:rPr lang="en-US" sz="1450" b="1" dirty="0">
                <a:solidFill>
                  <a:srgbClr val="1E2761"/>
                </a:solidFill>
                <a:latin typeface="Calibri" pitchFamily="34" charset="0"/>
                <a:ea typeface="Calibri" pitchFamily="34" charset="-122"/>
                <a:cs typeface="Calibri" pitchFamily="34" charset="-120"/>
              </a:rPr>
              <a:t>Files</a:t>
            </a:r>
            <a:endParaRPr lang="en-US" sz="1450" dirty="0"/>
          </a:p>
        </p:txBody>
      </p:sp>
      <p:sp>
        <p:nvSpPr>
          <p:cNvPr id="20" name="Text 14"/>
          <p:cNvSpPr/>
          <p:nvPr/>
        </p:nvSpPr>
        <p:spPr>
          <a:xfrm>
            <a:off x="640080" y="4709160"/>
            <a:ext cx="10515600" cy="36576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Data cleaned and combined using R</a:t>
            </a:r>
            <a:endParaRPr lang="en-US" sz="1300" dirty="0"/>
          </a:p>
        </p:txBody>
      </p:sp>
      <p:sp>
        <p:nvSpPr>
          <p:cNvPr id="21" name="Text 15"/>
          <p:cNvSpPr/>
          <p:nvPr/>
        </p:nvSpPr>
        <p:spPr>
          <a:xfrm>
            <a:off x="457200" y="6473952"/>
            <a:ext cx="5486400" cy="274320"/>
          </a:xfrm>
          <a:prstGeom prst="rect">
            <a:avLst/>
          </a:prstGeom>
          <a:noFill/>
          <a:ln/>
        </p:spPr>
        <p:txBody>
          <a:bodyPr wrap="square" rtlCol="0" anchor="ctr"/>
          <a:lstStyle/>
          <a:p>
            <a:pPr algn="l" indent="0" marL="0">
              <a:buNone/>
            </a:pPr>
            <a:r>
              <a:rPr lang="en-US" sz="900" spc="150" kern="0" dirty="0">
                <a:solidFill>
                  <a:srgbClr val="6B7280"/>
                </a:solidFill>
                <a:latin typeface="Calibri" pitchFamily="34" charset="0"/>
                <a:ea typeface="Calibri" pitchFamily="34" charset="-122"/>
                <a:cs typeface="Calibri" pitchFamily="34" charset="-120"/>
              </a:rPr>
              <a:t>CYCLISTIC BIKE SHARE ANALYSIS</a:t>
            </a:r>
            <a:endParaRPr lang="en-US" sz="900" dirty="0"/>
          </a:p>
        </p:txBody>
      </p:sp>
      <p:sp>
        <p:nvSpPr>
          <p:cNvPr id="22" name="Text 1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58368" y="256032"/>
            <a:ext cx="7315200" cy="274320"/>
          </a:xfrm>
          <a:prstGeom prst="rect">
            <a:avLst/>
          </a:prstGeom>
          <a:noFill/>
          <a:ln/>
        </p:spPr>
        <p:txBody>
          <a:bodyPr wrap="square" rtlCol="0" anchor="ctr"/>
          <a:lstStyle/>
          <a:p>
            <a:pPr indent="0" marL="0">
              <a:buNone/>
            </a:pPr>
            <a:r>
              <a:rPr lang="en-US" sz="1100" b="1" spc="200" kern="0" dirty="0">
                <a:solidFill>
                  <a:srgbClr val="F2994A"/>
                </a:solidFill>
                <a:latin typeface="Calibri" pitchFamily="34" charset="0"/>
                <a:ea typeface="Calibri" pitchFamily="34" charset="-122"/>
                <a:cs typeface="Calibri" pitchFamily="34" charset="-120"/>
              </a:rPr>
              <a:t>SECTION 05</a:t>
            </a:r>
            <a:endParaRPr lang="en-US" sz="1100" dirty="0"/>
          </a:p>
        </p:txBody>
      </p:sp>
      <p:sp>
        <p:nvSpPr>
          <p:cNvPr id="3" name="Text 1"/>
          <p:cNvSpPr/>
          <p:nvPr/>
        </p:nvSpPr>
        <p:spPr>
          <a:xfrm>
            <a:off x="640080" y="457200"/>
            <a:ext cx="10881360" cy="73152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Tools Used</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08792" cy="4206240"/>
        </p:xfrm>
        <a:graphic>
          <a:graphicData uri="http://schemas.openxmlformats.org/drawingml/2006/table">
            <a:tbl>
              <a:tblPr/>
              <a:tblGrid>
                <a:gridCol w="3840480"/>
                <a:gridCol w="7068312"/>
              </a:tblGrid>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TOOLS</a:t>
                      </a:r>
                      <a:endParaRPr lang="en-US" sz="1300" dirty="0">
                        <a:latin typeface="Calibri" charset="0"/>
                        <a:ea typeface="Calibri" charset="0"/>
                        <a:cs typeface="Calibri" charset="0"/>
                      </a:endParaRPr>
                    </a:p>
                  </a:txBody>
                  <a:tcPr marL="91440" marR="91440" marT="45720" marB="4572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PURPOSE</a:t>
                      </a:r>
                      <a:endParaRPr lang="en-US" sz="1300" dirty="0">
                        <a:latin typeface="Calibri" charset="0"/>
                        <a:ea typeface="Calibri" charset="0"/>
                        <a:cs typeface="Calibri" charset="0"/>
                      </a:endParaRPr>
                    </a:p>
                  </a:txBody>
                  <a:tcPr marL="91440" marR="91440" marT="45720" marB="4572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r>
              <a:tr h="603504">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Google Sheets</a:t>
                      </a:r>
                      <a:endParaRPr lang="en-US" sz="1300" dirty="0">
                        <a:latin typeface="Calibri" charset="0"/>
                        <a:ea typeface="Calibri" charset="0"/>
                        <a:cs typeface="Calibri" charset="0"/>
                      </a:endParaRPr>
                    </a:p>
                  </a:txBody>
                  <a:tcPr marL="91440" marR="91440" marT="45720" marB="4572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300" dirty="0">
                          <a:solidFill>
                            <a:srgbClr val="262B40"/>
                          </a:solidFill>
                          <a:latin typeface="Calibri" pitchFamily="34" charset="0"/>
                          <a:ea typeface="Calibri" pitchFamily="34" charset="-122"/>
                          <a:cs typeface="Calibri" pitchFamily="34" charset="-120"/>
                        </a:rPr>
                        <a:t>Initial data exploration</a:t>
                      </a:r>
                      <a:endParaRPr lang="en-US" sz="1300" dirty="0">
                        <a:latin typeface="Calibri" charset="0"/>
                        <a:ea typeface="Calibri" charset="0"/>
                        <a:cs typeface="Calibri" charset="0"/>
                      </a:endParaRPr>
                    </a:p>
                  </a:txBody>
                  <a:tcPr marL="91440" marR="91440" marT="45720" marB="4572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91440" marR="91440" marT="45720" marB="4572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EEF2FA"/>
                    </a:solidFill>
                  </a:tcPr>
                </a:tc>
                <a:tc>
                  <a:txBody>
                    <a:bodyPr/>
                    <a:lstStyle/>
                    <a:p>
                      <a:pPr indent="0" marL="0">
                        <a:buNone/>
                      </a:pPr>
                      <a:r>
                        <a:rPr lang="en-US" sz="1300" dirty="0">
                          <a:solidFill>
                            <a:srgbClr val="262B40"/>
                          </a:solidFill>
                          <a:latin typeface="Calibri" pitchFamily="34" charset="0"/>
                          <a:ea typeface="Calibri" pitchFamily="34" charset="-122"/>
                          <a:cs typeface="Calibri" pitchFamily="34" charset="-120"/>
                        </a:rPr>
                        <a:t>Data cleaning &amp; preprocessing</a:t>
                      </a:r>
                      <a:endParaRPr lang="en-US" sz="1300" dirty="0">
                        <a:latin typeface="Calibri" charset="0"/>
                        <a:ea typeface="Calibri" charset="0"/>
                        <a:cs typeface="Calibri" charset="0"/>
                      </a:endParaRPr>
                    </a:p>
                  </a:txBody>
                  <a:tcPr marL="91440" marR="91440" marT="45720" marB="4572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EEF2FA"/>
                    </a:solidFill>
                  </a:tcPr>
                </a:tc>
              </a:tr>
              <a:tr h="603504">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Tableau</a:t>
                      </a:r>
                      <a:endParaRPr lang="en-US" sz="1300" dirty="0">
                        <a:latin typeface="Calibri" charset="0"/>
                        <a:ea typeface="Calibri" charset="0"/>
                        <a:cs typeface="Calibri" charset="0"/>
                      </a:endParaRPr>
                    </a:p>
                  </a:txBody>
                  <a:tcPr marL="91440" marR="91440" marT="45720" marB="4572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300" dirty="0">
                          <a:solidFill>
                            <a:srgbClr val="262B40"/>
                          </a:solidFill>
                          <a:latin typeface="Calibri" pitchFamily="34" charset="0"/>
                          <a:ea typeface="Calibri" pitchFamily="34" charset="-122"/>
                          <a:cs typeface="Calibri" pitchFamily="34" charset="-120"/>
                        </a:rPr>
                        <a:t>Dashboard creation</a:t>
                      </a:r>
                      <a:endParaRPr lang="en-US" sz="1300" dirty="0">
                        <a:latin typeface="Calibri" charset="0"/>
                        <a:ea typeface="Calibri" charset="0"/>
                        <a:cs typeface="Calibri" charset="0"/>
                      </a:endParaRPr>
                    </a:p>
                  </a:txBody>
                  <a:tcPr marL="91440" marR="91440" marT="45720" marB="4572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Google Docs</a:t>
                      </a:r>
                      <a:endParaRPr lang="en-US" sz="1300" dirty="0">
                        <a:latin typeface="Calibri" charset="0"/>
                        <a:ea typeface="Calibri" charset="0"/>
                        <a:cs typeface="Calibri" charset="0"/>
                      </a:endParaRPr>
                    </a:p>
                  </a:txBody>
                  <a:tcPr marL="91440" marR="91440" marT="45720" marB="4572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EEF2FA"/>
                    </a:solidFill>
                  </a:tcPr>
                </a:tc>
                <a:tc>
                  <a:txBody>
                    <a:bodyPr/>
                    <a:lstStyle/>
                    <a:p>
                      <a:pPr indent="0" marL="0">
                        <a:buNone/>
                      </a:pPr>
                      <a:r>
                        <a:rPr lang="en-US" sz="1300" dirty="0">
                          <a:solidFill>
                            <a:srgbClr val="262B40"/>
                          </a:solidFill>
                          <a:latin typeface="Calibri" pitchFamily="34" charset="0"/>
                          <a:ea typeface="Calibri" pitchFamily="34" charset="-122"/>
                          <a:cs typeface="Calibri" pitchFamily="34" charset="-120"/>
                        </a:rPr>
                        <a:t>Project Documentation</a:t>
                      </a:r>
                      <a:endParaRPr lang="en-US" sz="1300" dirty="0">
                        <a:latin typeface="Calibri" charset="0"/>
                        <a:ea typeface="Calibri" charset="0"/>
                        <a:cs typeface="Calibri" charset="0"/>
                      </a:endParaRPr>
                    </a:p>
                  </a:txBody>
                  <a:tcPr marL="91440" marR="91440" marT="45720" marB="4572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EEF2FA"/>
                    </a:solidFill>
                  </a:tcPr>
                </a:tc>
              </a:tr>
              <a:tr h="603504">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Google Slides</a:t>
                      </a:r>
                      <a:endParaRPr lang="en-US" sz="1300" dirty="0">
                        <a:latin typeface="Calibri" charset="0"/>
                        <a:ea typeface="Calibri" charset="0"/>
                        <a:cs typeface="Calibri" charset="0"/>
                      </a:endParaRPr>
                    </a:p>
                  </a:txBody>
                  <a:tcPr marL="91440" marR="91440" marT="45720" marB="4572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300" dirty="0">
                          <a:solidFill>
                            <a:srgbClr val="262B40"/>
                          </a:solidFill>
                          <a:latin typeface="Calibri" pitchFamily="34" charset="0"/>
                          <a:ea typeface="Calibri" pitchFamily="34" charset="-122"/>
                          <a:cs typeface="Calibri" pitchFamily="34" charset="-120"/>
                        </a:rPr>
                        <a:t>Presentation</a:t>
                      </a:r>
                      <a:endParaRPr lang="en-US" sz="1300" dirty="0">
                        <a:latin typeface="Calibri" charset="0"/>
                        <a:ea typeface="Calibri" charset="0"/>
                        <a:cs typeface="Calibri" charset="0"/>
                      </a:endParaRPr>
                    </a:p>
                  </a:txBody>
                  <a:tcPr marL="91440" marR="91440" marT="45720" marB="4572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GitHub</a:t>
                      </a:r>
                      <a:endParaRPr lang="en-US" sz="1300" dirty="0">
                        <a:latin typeface="Calibri" charset="0"/>
                        <a:ea typeface="Calibri" charset="0"/>
                        <a:cs typeface="Calibri" charset="0"/>
                      </a:endParaRPr>
                    </a:p>
                  </a:txBody>
                  <a:tcPr marL="91440" marR="91440" marT="45720" marB="4572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EEF2FA"/>
                    </a:solidFill>
                  </a:tcPr>
                </a:tc>
                <a:tc>
                  <a:txBody>
                    <a:bodyPr/>
                    <a:lstStyle/>
                    <a:p>
                      <a:pPr indent="0" marL="0">
                        <a:buNone/>
                      </a:pPr>
                      <a:r>
                        <a:rPr lang="en-US" sz="1300" dirty="0">
                          <a:solidFill>
                            <a:srgbClr val="262B40"/>
                          </a:solidFill>
                          <a:latin typeface="Calibri" pitchFamily="34" charset="0"/>
                          <a:ea typeface="Calibri" pitchFamily="34" charset="-122"/>
                          <a:cs typeface="Calibri" pitchFamily="34" charset="-120"/>
                        </a:rPr>
                        <a:t>Portfolio &amp; version control</a:t>
                      </a:r>
                      <a:endParaRPr lang="en-US" sz="1300" dirty="0">
                        <a:latin typeface="Calibri" charset="0"/>
                        <a:ea typeface="Calibri" charset="0"/>
                        <a:cs typeface="Calibri" charset="0"/>
                      </a:endParaRPr>
                    </a:p>
                  </a:txBody>
                  <a:tcPr marL="91440" marR="91440" marT="45720" marB="4572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EEF2FA"/>
                    </a:solidFill>
                  </a:tcPr>
                </a:tc>
              </a:tr>
            </a:tbl>
          </a:graphicData>
        </a:graphic>
      </p:graphicFrame>
      <p:sp>
        <p:nvSpPr>
          <p:cNvPr id="5" name="Text 2"/>
          <p:cNvSpPr/>
          <p:nvPr/>
        </p:nvSpPr>
        <p:spPr>
          <a:xfrm>
            <a:off x="457200" y="6473952"/>
            <a:ext cx="5486400" cy="274320"/>
          </a:xfrm>
          <a:prstGeom prst="rect">
            <a:avLst/>
          </a:prstGeom>
          <a:noFill/>
          <a:ln/>
        </p:spPr>
        <p:txBody>
          <a:bodyPr wrap="square" rtlCol="0" anchor="ctr"/>
          <a:lstStyle/>
          <a:p>
            <a:pPr algn="l" indent="0" marL="0">
              <a:buNone/>
            </a:pPr>
            <a:r>
              <a:rPr lang="en-US" sz="900" spc="150" kern="0" dirty="0">
                <a:solidFill>
                  <a:srgbClr val="6B7280"/>
                </a:solidFill>
                <a:latin typeface="Calibri" pitchFamily="34" charset="0"/>
                <a:ea typeface="Calibri" pitchFamily="34" charset="-122"/>
                <a:cs typeface="Calibri" pitchFamily="34" charset="-120"/>
              </a:rPr>
              <a:t>CYCLISTIC BIKE SHARE ANALYSIS</a:t>
            </a:r>
            <a:endParaRPr lang="en-US" sz="900" dirty="0"/>
          </a:p>
        </p:txBody>
      </p:sp>
      <p:sp>
        <p:nvSpPr>
          <p:cNvPr id="6" name="Text 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8368" y="256032"/>
            <a:ext cx="7315200" cy="274320"/>
          </a:xfrm>
          <a:prstGeom prst="rect">
            <a:avLst/>
          </a:prstGeom>
          <a:noFill/>
          <a:ln/>
        </p:spPr>
        <p:txBody>
          <a:bodyPr wrap="square" rtlCol="0" anchor="ctr"/>
          <a:lstStyle/>
          <a:p>
            <a:pPr indent="0" marL="0">
              <a:buNone/>
            </a:pPr>
            <a:r>
              <a:rPr lang="en-US" sz="1100" b="1" spc="200" kern="0" dirty="0">
                <a:solidFill>
                  <a:srgbClr val="F2994A"/>
                </a:solidFill>
                <a:latin typeface="Calibri" pitchFamily="34" charset="0"/>
                <a:ea typeface="Calibri" pitchFamily="34" charset="-122"/>
                <a:cs typeface="Calibri" pitchFamily="34" charset="-120"/>
              </a:rPr>
              <a:t>SECTION 06</a:t>
            </a:r>
            <a:endParaRPr lang="en-US" sz="1100" dirty="0"/>
          </a:p>
        </p:txBody>
      </p:sp>
      <p:sp>
        <p:nvSpPr>
          <p:cNvPr id="3" name="Text 1"/>
          <p:cNvSpPr/>
          <p:nvPr/>
        </p:nvSpPr>
        <p:spPr>
          <a:xfrm>
            <a:off x="640080" y="457200"/>
            <a:ext cx="10881360" cy="73152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Methodology</a:t>
            </a:r>
            <a:endParaRPr lang="en-US" sz="3200" dirty="0"/>
          </a:p>
        </p:txBody>
      </p:sp>
      <p:sp>
        <p:nvSpPr>
          <p:cNvPr id="4" name="Text 2"/>
          <p:cNvSpPr/>
          <p:nvPr/>
        </p:nvSpPr>
        <p:spPr>
          <a:xfrm>
            <a:off x="658368" y="1170432"/>
            <a:ext cx="7315200" cy="3200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The Google Data Analytics six-phase framework</a:t>
            </a:r>
            <a:endParaRPr lang="en-US" sz="1300" dirty="0"/>
          </a:p>
        </p:txBody>
      </p:sp>
      <p:sp>
        <p:nvSpPr>
          <p:cNvPr id="5" name="Shape 3"/>
          <p:cNvSpPr/>
          <p:nvPr/>
        </p:nvSpPr>
        <p:spPr>
          <a:xfrm>
            <a:off x="2011680" y="3154680"/>
            <a:ext cx="535838" cy="0"/>
          </a:xfrm>
          <a:prstGeom prst="line">
            <a:avLst/>
          </a:prstGeom>
          <a:noFill/>
          <a:ln w="31750">
            <a:solidFill>
              <a:srgbClr val="CADCFC"/>
            </a:solidFill>
            <a:prstDash val="dash"/>
          </a:ln>
        </p:spPr>
      </p:sp>
      <p:sp>
        <p:nvSpPr>
          <p:cNvPr id="6" name="Shape 4"/>
          <p:cNvSpPr/>
          <p:nvPr/>
        </p:nvSpPr>
        <p:spPr>
          <a:xfrm>
            <a:off x="640080" y="2468880"/>
            <a:ext cx="1371600" cy="1371600"/>
          </a:xfrm>
          <a:prstGeom prst="ellipse">
            <a:avLst/>
          </a:prstGeom>
          <a:solidFill>
            <a:srgbClr val="1E2761"/>
          </a:solidFill>
          <a:ln/>
          <a:effectLst>
            <a:outerShdw sx="100000" sy="100000" kx="0" ky="0" algn="bl" rotWithShape="0" blurRad="76200" dist="38100" dir="5400000">
              <a:srgbClr val="1E2761">
                <a:alpha val="20000"/>
              </a:srgbClr>
            </a:outerShdw>
          </a:effectLst>
        </p:spPr>
      </p:sp>
      <p:pic>
        <p:nvPicPr>
          <p:cNvPr id="7" name="Image 0" descr="/home/claude/assets/bullseye_white.png">    </p:cNvPr>
          <p:cNvPicPr>
            <a:picLocks noChangeAspect="1"/>
          </p:cNvPicPr>
          <p:nvPr/>
        </p:nvPicPr>
        <p:blipFill>
          <a:blip r:embed="rId1"/>
          <a:stretch>
            <a:fillRect/>
          </a:stretch>
        </p:blipFill>
        <p:spPr>
          <a:xfrm>
            <a:off x="1051560" y="2670048"/>
            <a:ext cx="548640" cy="548640"/>
          </a:xfrm>
          <a:prstGeom prst="rect">
            <a:avLst/>
          </a:prstGeom>
        </p:spPr>
      </p:pic>
      <p:sp>
        <p:nvSpPr>
          <p:cNvPr id="8" name="Text 5"/>
          <p:cNvSpPr/>
          <p:nvPr/>
        </p:nvSpPr>
        <p:spPr>
          <a:xfrm>
            <a:off x="365760" y="4005072"/>
            <a:ext cx="1920240" cy="36576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Ask</a:t>
            </a:r>
            <a:endParaRPr lang="en-US" sz="1400" dirty="0"/>
          </a:p>
        </p:txBody>
      </p:sp>
      <p:sp>
        <p:nvSpPr>
          <p:cNvPr id="9" name="Text 6"/>
          <p:cNvSpPr/>
          <p:nvPr/>
        </p:nvSpPr>
        <p:spPr>
          <a:xfrm>
            <a:off x="365760" y="2103120"/>
            <a:ext cx="1920240" cy="320040"/>
          </a:xfrm>
          <a:prstGeom prst="rect">
            <a:avLst/>
          </a:prstGeom>
          <a:noFill/>
          <a:ln/>
        </p:spPr>
        <p:txBody>
          <a:bodyPr wrap="square" rtlCol="0" anchor="ctr"/>
          <a:lstStyle/>
          <a:p>
            <a:pPr algn="ctr" indent="0" marL="0">
              <a:buNone/>
            </a:pPr>
            <a:r>
              <a:rPr lang="en-US" sz="1100" b="1" dirty="0">
                <a:solidFill>
                  <a:srgbClr val="6B7280"/>
                </a:solidFill>
                <a:latin typeface="Calibri" pitchFamily="34" charset="0"/>
                <a:ea typeface="Calibri" pitchFamily="34" charset="-122"/>
                <a:cs typeface="Calibri" pitchFamily="34" charset="-120"/>
              </a:rPr>
              <a:t>1</a:t>
            </a:r>
            <a:endParaRPr lang="en-US" sz="1100" dirty="0"/>
          </a:p>
        </p:txBody>
      </p:sp>
      <p:sp>
        <p:nvSpPr>
          <p:cNvPr id="10" name="Shape 7"/>
          <p:cNvSpPr/>
          <p:nvPr/>
        </p:nvSpPr>
        <p:spPr>
          <a:xfrm>
            <a:off x="3919118" y="3154680"/>
            <a:ext cx="535838" cy="0"/>
          </a:xfrm>
          <a:prstGeom prst="line">
            <a:avLst/>
          </a:prstGeom>
          <a:noFill/>
          <a:ln w="31750">
            <a:solidFill>
              <a:srgbClr val="CADCFC"/>
            </a:solidFill>
            <a:prstDash val="dash"/>
          </a:ln>
        </p:spPr>
      </p:sp>
      <p:sp>
        <p:nvSpPr>
          <p:cNvPr id="11" name="Shape 8"/>
          <p:cNvSpPr/>
          <p:nvPr/>
        </p:nvSpPr>
        <p:spPr>
          <a:xfrm>
            <a:off x="2547518" y="2468880"/>
            <a:ext cx="1371600" cy="1371600"/>
          </a:xfrm>
          <a:prstGeom prst="ellipse">
            <a:avLst/>
          </a:prstGeom>
          <a:solidFill>
            <a:srgbClr val="F2994A"/>
          </a:solidFill>
          <a:ln/>
          <a:effectLst>
            <a:outerShdw sx="100000" sy="100000" kx="0" ky="0" algn="bl" rotWithShape="0" blurRad="76200" dist="38100" dir="5400000">
              <a:srgbClr val="1E2761">
                <a:alpha val="20000"/>
              </a:srgbClr>
            </a:outerShdw>
          </a:effectLst>
        </p:spPr>
      </p:sp>
      <p:pic>
        <p:nvPicPr>
          <p:cNvPr id="12" name="Image 1" descr="/home/claude/assets/clipboard_white.png">    </p:cNvPr>
          <p:cNvPicPr>
            <a:picLocks noChangeAspect="1"/>
          </p:cNvPicPr>
          <p:nvPr/>
        </p:nvPicPr>
        <p:blipFill>
          <a:blip r:embed="rId2"/>
          <a:stretch>
            <a:fillRect/>
          </a:stretch>
        </p:blipFill>
        <p:spPr>
          <a:xfrm>
            <a:off x="2958998" y="2670048"/>
            <a:ext cx="548640" cy="548640"/>
          </a:xfrm>
          <a:prstGeom prst="rect">
            <a:avLst/>
          </a:prstGeom>
        </p:spPr>
      </p:pic>
      <p:sp>
        <p:nvSpPr>
          <p:cNvPr id="13" name="Text 9"/>
          <p:cNvSpPr/>
          <p:nvPr/>
        </p:nvSpPr>
        <p:spPr>
          <a:xfrm>
            <a:off x="2273198" y="4005072"/>
            <a:ext cx="1920240" cy="36576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Prepare</a:t>
            </a:r>
            <a:endParaRPr lang="en-US" sz="1400" dirty="0"/>
          </a:p>
        </p:txBody>
      </p:sp>
      <p:sp>
        <p:nvSpPr>
          <p:cNvPr id="14" name="Text 10"/>
          <p:cNvSpPr/>
          <p:nvPr/>
        </p:nvSpPr>
        <p:spPr>
          <a:xfrm>
            <a:off x="2273198" y="2103120"/>
            <a:ext cx="1920240" cy="320040"/>
          </a:xfrm>
          <a:prstGeom prst="rect">
            <a:avLst/>
          </a:prstGeom>
          <a:noFill/>
          <a:ln/>
        </p:spPr>
        <p:txBody>
          <a:bodyPr wrap="square" rtlCol="0" anchor="ctr"/>
          <a:lstStyle/>
          <a:p>
            <a:pPr algn="ctr" indent="0" marL="0">
              <a:buNone/>
            </a:pPr>
            <a:r>
              <a:rPr lang="en-US" sz="1100" b="1" dirty="0">
                <a:solidFill>
                  <a:srgbClr val="6B7280"/>
                </a:solidFill>
                <a:latin typeface="Calibri" pitchFamily="34" charset="0"/>
                <a:ea typeface="Calibri" pitchFamily="34" charset="-122"/>
                <a:cs typeface="Calibri" pitchFamily="34" charset="-120"/>
              </a:rPr>
              <a:t>2</a:t>
            </a:r>
            <a:endParaRPr lang="en-US" sz="1100" dirty="0"/>
          </a:p>
        </p:txBody>
      </p:sp>
      <p:sp>
        <p:nvSpPr>
          <p:cNvPr id="15" name="Shape 11"/>
          <p:cNvSpPr/>
          <p:nvPr/>
        </p:nvSpPr>
        <p:spPr>
          <a:xfrm>
            <a:off x="5826557" y="3154680"/>
            <a:ext cx="535838" cy="0"/>
          </a:xfrm>
          <a:prstGeom prst="line">
            <a:avLst/>
          </a:prstGeom>
          <a:noFill/>
          <a:ln w="31750">
            <a:solidFill>
              <a:srgbClr val="CADCFC"/>
            </a:solidFill>
            <a:prstDash val="dash"/>
          </a:ln>
        </p:spPr>
      </p:sp>
      <p:sp>
        <p:nvSpPr>
          <p:cNvPr id="16" name="Shape 12"/>
          <p:cNvSpPr/>
          <p:nvPr/>
        </p:nvSpPr>
        <p:spPr>
          <a:xfrm>
            <a:off x="4454957" y="2468880"/>
            <a:ext cx="1371600" cy="1371600"/>
          </a:xfrm>
          <a:prstGeom prst="ellipse">
            <a:avLst/>
          </a:prstGeom>
          <a:solidFill>
            <a:srgbClr val="1E2761"/>
          </a:solidFill>
          <a:ln/>
          <a:effectLst>
            <a:outerShdw sx="100000" sy="100000" kx="0" ky="0" algn="bl" rotWithShape="0" blurRad="76200" dist="38100" dir="5400000">
              <a:srgbClr val="1E2761">
                <a:alpha val="20000"/>
              </a:srgbClr>
            </a:outerShdw>
          </a:effectLst>
        </p:spPr>
      </p:sp>
      <p:pic>
        <p:nvPicPr>
          <p:cNvPr id="17" name="Image 2" descr="/home/claude/assets/broom_white.png">    </p:cNvPr>
          <p:cNvPicPr>
            <a:picLocks noChangeAspect="1"/>
          </p:cNvPicPr>
          <p:nvPr/>
        </p:nvPicPr>
        <p:blipFill>
          <a:blip r:embed="rId3"/>
          <a:stretch>
            <a:fillRect/>
          </a:stretch>
        </p:blipFill>
        <p:spPr>
          <a:xfrm>
            <a:off x="4866437" y="2670048"/>
            <a:ext cx="548640" cy="548640"/>
          </a:xfrm>
          <a:prstGeom prst="rect">
            <a:avLst/>
          </a:prstGeom>
        </p:spPr>
      </p:pic>
      <p:sp>
        <p:nvSpPr>
          <p:cNvPr id="18" name="Text 13"/>
          <p:cNvSpPr/>
          <p:nvPr/>
        </p:nvSpPr>
        <p:spPr>
          <a:xfrm>
            <a:off x="4180637" y="4005072"/>
            <a:ext cx="1920240" cy="36576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Process</a:t>
            </a:r>
            <a:endParaRPr lang="en-US" sz="1400" dirty="0"/>
          </a:p>
        </p:txBody>
      </p:sp>
      <p:sp>
        <p:nvSpPr>
          <p:cNvPr id="19" name="Text 14"/>
          <p:cNvSpPr/>
          <p:nvPr/>
        </p:nvSpPr>
        <p:spPr>
          <a:xfrm>
            <a:off x="4180637" y="2103120"/>
            <a:ext cx="1920240" cy="320040"/>
          </a:xfrm>
          <a:prstGeom prst="rect">
            <a:avLst/>
          </a:prstGeom>
          <a:noFill/>
          <a:ln/>
        </p:spPr>
        <p:txBody>
          <a:bodyPr wrap="square" rtlCol="0" anchor="ctr"/>
          <a:lstStyle/>
          <a:p>
            <a:pPr algn="ctr" indent="0" marL="0">
              <a:buNone/>
            </a:pPr>
            <a:r>
              <a:rPr lang="en-US" sz="1100" b="1" dirty="0">
                <a:solidFill>
                  <a:srgbClr val="6B7280"/>
                </a:solidFill>
                <a:latin typeface="Calibri" pitchFamily="34" charset="0"/>
                <a:ea typeface="Calibri" pitchFamily="34" charset="-122"/>
                <a:cs typeface="Calibri" pitchFamily="34" charset="-120"/>
              </a:rPr>
              <a:t>3</a:t>
            </a:r>
            <a:endParaRPr lang="en-US" sz="1100" dirty="0"/>
          </a:p>
        </p:txBody>
      </p:sp>
      <p:sp>
        <p:nvSpPr>
          <p:cNvPr id="20" name="Shape 15"/>
          <p:cNvSpPr/>
          <p:nvPr/>
        </p:nvSpPr>
        <p:spPr>
          <a:xfrm>
            <a:off x="7733995" y="3154680"/>
            <a:ext cx="535838" cy="0"/>
          </a:xfrm>
          <a:prstGeom prst="line">
            <a:avLst/>
          </a:prstGeom>
          <a:noFill/>
          <a:ln w="31750">
            <a:solidFill>
              <a:srgbClr val="CADCFC"/>
            </a:solidFill>
            <a:prstDash val="dash"/>
          </a:ln>
        </p:spPr>
      </p:sp>
      <p:sp>
        <p:nvSpPr>
          <p:cNvPr id="21" name="Shape 16"/>
          <p:cNvSpPr/>
          <p:nvPr/>
        </p:nvSpPr>
        <p:spPr>
          <a:xfrm>
            <a:off x="6362395" y="2468880"/>
            <a:ext cx="1371600" cy="1371600"/>
          </a:xfrm>
          <a:prstGeom prst="ellipse">
            <a:avLst/>
          </a:prstGeom>
          <a:solidFill>
            <a:srgbClr val="F2994A"/>
          </a:solidFill>
          <a:ln/>
          <a:effectLst>
            <a:outerShdw sx="100000" sy="100000" kx="0" ky="0" algn="bl" rotWithShape="0" blurRad="76200" dist="38100" dir="5400000">
              <a:srgbClr val="1E2761">
                <a:alpha val="20000"/>
              </a:srgbClr>
            </a:outerShdw>
          </a:effectLst>
        </p:spPr>
      </p:sp>
      <p:pic>
        <p:nvPicPr>
          <p:cNvPr id="22" name="Image 3" descr="/home/claude/assets/chartbar_white.png">    </p:cNvPr>
          <p:cNvPicPr>
            <a:picLocks noChangeAspect="1"/>
          </p:cNvPicPr>
          <p:nvPr/>
        </p:nvPicPr>
        <p:blipFill>
          <a:blip r:embed="rId4"/>
          <a:stretch>
            <a:fillRect/>
          </a:stretch>
        </p:blipFill>
        <p:spPr>
          <a:xfrm>
            <a:off x="6773875" y="2670048"/>
            <a:ext cx="548640" cy="548640"/>
          </a:xfrm>
          <a:prstGeom prst="rect">
            <a:avLst/>
          </a:prstGeom>
        </p:spPr>
      </p:pic>
      <p:sp>
        <p:nvSpPr>
          <p:cNvPr id="23" name="Text 17"/>
          <p:cNvSpPr/>
          <p:nvPr/>
        </p:nvSpPr>
        <p:spPr>
          <a:xfrm>
            <a:off x="6088075" y="4005072"/>
            <a:ext cx="1920240" cy="36576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Analyze</a:t>
            </a:r>
            <a:endParaRPr lang="en-US" sz="1400" dirty="0"/>
          </a:p>
        </p:txBody>
      </p:sp>
      <p:sp>
        <p:nvSpPr>
          <p:cNvPr id="24" name="Text 18"/>
          <p:cNvSpPr/>
          <p:nvPr/>
        </p:nvSpPr>
        <p:spPr>
          <a:xfrm>
            <a:off x="6088075" y="2103120"/>
            <a:ext cx="1920240" cy="320040"/>
          </a:xfrm>
          <a:prstGeom prst="rect">
            <a:avLst/>
          </a:prstGeom>
          <a:noFill/>
          <a:ln/>
        </p:spPr>
        <p:txBody>
          <a:bodyPr wrap="square" rtlCol="0" anchor="ctr"/>
          <a:lstStyle/>
          <a:p>
            <a:pPr algn="ctr" indent="0" marL="0">
              <a:buNone/>
            </a:pPr>
            <a:r>
              <a:rPr lang="en-US" sz="1100" b="1" dirty="0">
                <a:solidFill>
                  <a:srgbClr val="6B7280"/>
                </a:solidFill>
                <a:latin typeface="Calibri" pitchFamily="34" charset="0"/>
                <a:ea typeface="Calibri" pitchFamily="34" charset="-122"/>
                <a:cs typeface="Calibri" pitchFamily="34" charset="-120"/>
              </a:rPr>
              <a:t>4</a:t>
            </a:r>
            <a:endParaRPr lang="en-US" sz="1100" dirty="0"/>
          </a:p>
        </p:txBody>
      </p:sp>
      <p:sp>
        <p:nvSpPr>
          <p:cNvPr id="25" name="Shape 19"/>
          <p:cNvSpPr/>
          <p:nvPr/>
        </p:nvSpPr>
        <p:spPr>
          <a:xfrm>
            <a:off x="9641434" y="3154680"/>
            <a:ext cx="535838" cy="0"/>
          </a:xfrm>
          <a:prstGeom prst="line">
            <a:avLst/>
          </a:prstGeom>
          <a:noFill/>
          <a:ln w="31750">
            <a:solidFill>
              <a:srgbClr val="CADCFC"/>
            </a:solidFill>
            <a:prstDash val="dash"/>
          </a:ln>
        </p:spPr>
      </p:sp>
      <p:sp>
        <p:nvSpPr>
          <p:cNvPr id="26" name="Shape 20"/>
          <p:cNvSpPr/>
          <p:nvPr/>
        </p:nvSpPr>
        <p:spPr>
          <a:xfrm>
            <a:off x="8269834" y="2468880"/>
            <a:ext cx="1371600" cy="1371600"/>
          </a:xfrm>
          <a:prstGeom prst="ellipse">
            <a:avLst/>
          </a:prstGeom>
          <a:solidFill>
            <a:srgbClr val="1E2761"/>
          </a:solidFill>
          <a:ln/>
          <a:effectLst>
            <a:outerShdw sx="100000" sy="100000" kx="0" ky="0" algn="bl" rotWithShape="0" blurRad="76200" dist="38100" dir="5400000">
              <a:srgbClr val="1E2761">
                <a:alpha val="20000"/>
              </a:srgbClr>
            </a:outerShdw>
          </a:effectLst>
        </p:spPr>
      </p:sp>
      <p:pic>
        <p:nvPicPr>
          <p:cNvPr id="27" name="Image 4" descr="/home/claude/assets/chartpie_white.png">    </p:cNvPr>
          <p:cNvPicPr>
            <a:picLocks noChangeAspect="1"/>
          </p:cNvPicPr>
          <p:nvPr/>
        </p:nvPicPr>
        <p:blipFill>
          <a:blip r:embed="rId5"/>
          <a:stretch>
            <a:fillRect/>
          </a:stretch>
        </p:blipFill>
        <p:spPr>
          <a:xfrm>
            <a:off x="8681314" y="2670048"/>
            <a:ext cx="548640" cy="548640"/>
          </a:xfrm>
          <a:prstGeom prst="rect">
            <a:avLst/>
          </a:prstGeom>
        </p:spPr>
      </p:pic>
      <p:sp>
        <p:nvSpPr>
          <p:cNvPr id="28" name="Text 21"/>
          <p:cNvSpPr/>
          <p:nvPr/>
        </p:nvSpPr>
        <p:spPr>
          <a:xfrm>
            <a:off x="7995514" y="4005072"/>
            <a:ext cx="1920240" cy="36576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Share</a:t>
            </a:r>
            <a:endParaRPr lang="en-US" sz="1400" dirty="0"/>
          </a:p>
        </p:txBody>
      </p:sp>
      <p:sp>
        <p:nvSpPr>
          <p:cNvPr id="29" name="Text 22"/>
          <p:cNvSpPr/>
          <p:nvPr/>
        </p:nvSpPr>
        <p:spPr>
          <a:xfrm>
            <a:off x="7995514" y="2103120"/>
            <a:ext cx="1920240" cy="320040"/>
          </a:xfrm>
          <a:prstGeom prst="rect">
            <a:avLst/>
          </a:prstGeom>
          <a:noFill/>
          <a:ln/>
        </p:spPr>
        <p:txBody>
          <a:bodyPr wrap="square" rtlCol="0" anchor="ctr"/>
          <a:lstStyle/>
          <a:p>
            <a:pPr algn="ctr" indent="0" marL="0">
              <a:buNone/>
            </a:pPr>
            <a:r>
              <a:rPr lang="en-US" sz="1100" b="1" dirty="0">
                <a:solidFill>
                  <a:srgbClr val="6B7280"/>
                </a:solidFill>
                <a:latin typeface="Calibri" pitchFamily="34" charset="0"/>
                <a:ea typeface="Calibri" pitchFamily="34" charset="-122"/>
                <a:cs typeface="Calibri" pitchFamily="34" charset="-120"/>
              </a:rPr>
              <a:t>5</a:t>
            </a:r>
            <a:endParaRPr lang="en-US" sz="1100" dirty="0"/>
          </a:p>
        </p:txBody>
      </p:sp>
      <p:sp>
        <p:nvSpPr>
          <p:cNvPr id="30" name="Shape 23"/>
          <p:cNvSpPr/>
          <p:nvPr/>
        </p:nvSpPr>
        <p:spPr>
          <a:xfrm>
            <a:off x="10177272" y="2468880"/>
            <a:ext cx="1371600" cy="1371600"/>
          </a:xfrm>
          <a:prstGeom prst="ellipse">
            <a:avLst/>
          </a:prstGeom>
          <a:solidFill>
            <a:srgbClr val="F2994A"/>
          </a:solidFill>
          <a:ln/>
          <a:effectLst>
            <a:outerShdw sx="100000" sy="100000" kx="0" ky="0" algn="bl" rotWithShape="0" blurRad="76200" dist="38100" dir="5400000">
              <a:srgbClr val="1E2761">
                <a:alpha val="20000"/>
              </a:srgbClr>
            </a:outerShdw>
          </a:effectLst>
        </p:spPr>
      </p:sp>
      <p:pic>
        <p:nvPicPr>
          <p:cNvPr id="31" name="Image 5" descr="/home/claude/assets/handshake_white.png">    </p:cNvPr>
          <p:cNvPicPr>
            <a:picLocks noChangeAspect="1"/>
          </p:cNvPicPr>
          <p:nvPr/>
        </p:nvPicPr>
        <p:blipFill>
          <a:blip r:embed="rId6"/>
          <a:stretch>
            <a:fillRect/>
          </a:stretch>
        </p:blipFill>
        <p:spPr>
          <a:xfrm>
            <a:off x="10588752" y="2670048"/>
            <a:ext cx="548640" cy="548640"/>
          </a:xfrm>
          <a:prstGeom prst="rect">
            <a:avLst/>
          </a:prstGeom>
        </p:spPr>
      </p:pic>
      <p:sp>
        <p:nvSpPr>
          <p:cNvPr id="32" name="Text 24"/>
          <p:cNvSpPr/>
          <p:nvPr/>
        </p:nvSpPr>
        <p:spPr>
          <a:xfrm>
            <a:off x="9902952" y="4005072"/>
            <a:ext cx="1920240" cy="36576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Act</a:t>
            </a:r>
            <a:endParaRPr lang="en-US" sz="1400" dirty="0"/>
          </a:p>
        </p:txBody>
      </p:sp>
      <p:sp>
        <p:nvSpPr>
          <p:cNvPr id="33" name="Text 25"/>
          <p:cNvSpPr/>
          <p:nvPr/>
        </p:nvSpPr>
        <p:spPr>
          <a:xfrm>
            <a:off x="9902952" y="2103120"/>
            <a:ext cx="1920240" cy="320040"/>
          </a:xfrm>
          <a:prstGeom prst="rect">
            <a:avLst/>
          </a:prstGeom>
          <a:noFill/>
          <a:ln/>
        </p:spPr>
        <p:txBody>
          <a:bodyPr wrap="square" rtlCol="0" anchor="ctr"/>
          <a:lstStyle/>
          <a:p>
            <a:pPr algn="ctr" indent="0" marL="0">
              <a:buNone/>
            </a:pPr>
            <a:r>
              <a:rPr lang="en-US" sz="1100" b="1" dirty="0">
                <a:solidFill>
                  <a:srgbClr val="6B7280"/>
                </a:solidFill>
                <a:latin typeface="Calibri" pitchFamily="34" charset="0"/>
                <a:ea typeface="Calibri" pitchFamily="34" charset="-122"/>
                <a:cs typeface="Calibri" pitchFamily="34" charset="-120"/>
              </a:rPr>
              <a:t>6</a:t>
            </a:r>
            <a:endParaRPr lang="en-US" sz="1100" dirty="0"/>
          </a:p>
        </p:txBody>
      </p:sp>
      <p:sp>
        <p:nvSpPr>
          <p:cNvPr id="34" name="Text 26"/>
          <p:cNvSpPr/>
          <p:nvPr/>
        </p:nvSpPr>
        <p:spPr>
          <a:xfrm>
            <a:off x="457200" y="6473952"/>
            <a:ext cx="5486400" cy="274320"/>
          </a:xfrm>
          <a:prstGeom prst="rect">
            <a:avLst/>
          </a:prstGeom>
          <a:noFill/>
          <a:ln/>
        </p:spPr>
        <p:txBody>
          <a:bodyPr wrap="square" rtlCol="0" anchor="ctr"/>
          <a:lstStyle/>
          <a:p>
            <a:pPr algn="l" indent="0" marL="0">
              <a:buNone/>
            </a:pPr>
            <a:r>
              <a:rPr lang="en-US" sz="900" spc="150" kern="0" dirty="0">
                <a:solidFill>
                  <a:srgbClr val="6B7280"/>
                </a:solidFill>
                <a:latin typeface="Calibri" pitchFamily="34" charset="0"/>
                <a:ea typeface="Calibri" pitchFamily="34" charset="-122"/>
                <a:cs typeface="Calibri" pitchFamily="34" charset="-120"/>
              </a:rPr>
              <a:t>CYCLISTIC BIKE SHARE ANALYSIS</a:t>
            </a:r>
            <a:endParaRPr lang="en-US" sz="900" dirty="0"/>
          </a:p>
        </p:txBody>
      </p:sp>
      <p:sp>
        <p:nvSpPr>
          <p:cNvPr id="35" name="Text 27"/>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58368" y="256032"/>
            <a:ext cx="7315200" cy="274320"/>
          </a:xfrm>
          <a:prstGeom prst="rect">
            <a:avLst/>
          </a:prstGeom>
          <a:noFill/>
          <a:ln/>
        </p:spPr>
        <p:txBody>
          <a:bodyPr wrap="square" rtlCol="0" anchor="ctr"/>
          <a:lstStyle/>
          <a:p>
            <a:pPr indent="0" marL="0">
              <a:buNone/>
            </a:pPr>
            <a:r>
              <a:rPr lang="en-US" sz="1100" b="1" spc="200" kern="0" dirty="0">
                <a:solidFill>
                  <a:srgbClr val="F2994A"/>
                </a:solidFill>
                <a:latin typeface="Calibri" pitchFamily="34" charset="0"/>
                <a:ea typeface="Calibri" pitchFamily="34" charset="-122"/>
                <a:cs typeface="Calibri" pitchFamily="34" charset="-120"/>
              </a:rPr>
              <a:t>SECTION 07</a:t>
            </a:r>
            <a:endParaRPr lang="en-US" sz="1100" dirty="0"/>
          </a:p>
        </p:txBody>
      </p:sp>
      <p:sp>
        <p:nvSpPr>
          <p:cNvPr id="3" name="Text 1"/>
          <p:cNvSpPr/>
          <p:nvPr/>
        </p:nvSpPr>
        <p:spPr>
          <a:xfrm>
            <a:off x="640080" y="457200"/>
            <a:ext cx="10881360" cy="73152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Data Cleaning</a:t>
            </a:r>
            <a:endParaRPr lang="en-US" sz="3200" dirty="0"/>
          </a:p>
        </p:txBody>
      </p:sp>
      <p:pic>
        <p:nvPicPr>
          <p:cNvPr id="4" name="Image 0" descr="/home/claude/assets/check_navy.png">    </p:cNvPr>
          <p:cNvPicPr>
            <a:picLocks noChangeAspect="1"/>
          </p:cNvPicPr>
          <p:nvPr/>
        </p:nvPicPr>
        <p:blipFill>
          <a:blip r:embed="rId1"/>
          <a:stretch>
            <a:fillRect/>
          </a:stretch>
        </p:blipFill>
        <p:spPr>
          <a:xfrm>
            <a:off x="658368" y="1764792"/>
            <a:ext cx="292608" cy="292608"/>
          </a:xfrm>
          <a:prstGeom prst="rect">
            <a:avLst/>
          </a:prstGeom>
        </p:spPr>
      </p:pic>
      <p:sp>
        <p:nvSpPr>
          <p:cNvPr id="5" name="Text 2"/>
          <p:cNvSpPr/>
          <p:nvPr/>
        </p:nvSpPr>
        <p:spPr>
          <a:xfrm>
            <a:off x="1097280" y="1737360"/>
            <a:ext cx="5120640" cy="384048"/>
          </a:xfrm>
          <a:prstGeom prst="rect">
            <a:avLst/>
          </a:prstGeom>
          <a:noFill/>
          <a:ln/>
        </p:spPr>
        <p:txBody>
          <a:bodyPr wrap="square" rtlCol="0" anchor="ctr"/>
          <a:lstStyle/>
          <a:p>
            <a:pPr indent="0" marL="0">
              <a:buNone/>
            </a:pPr>
            <a:r>
              <a:rPr lang="en-US" sz="1450" dirty="0">
                <a:solidFill>
                  <a:srgbClr val="262B40"/>
                </a:solidFill>
                <a:latin typeface="Calibri" pitchFamily="34" charset="0"/>
                <a:ea typeface="Calibri" pitchFamily="34" charset="-122"/>
                <a:cs typeface="Calibri" pitchFamily="34" charset="-120"/>
              </a:rPr>
              <a:t>Imported 12 monthly datasets</a:t>
            </a:r>
            <a:endParaRPr lang="en-US" sz="1450" dirty="0"/>
          </a:p>
        </p:txBody>
      </p:sp>
      <p:pic>
        <p:nvPicPr>
          <p:cNvPr id="6" name="Image 1" descr="/home/claude/assets/check_navy.png">    </p:cNvPr>
          <p:cNvPicPr>
            <a:picLocks noChangeAspect="1"/>
          </p:cNvPicPr>
          <p:nvPr/>
        </p:nvPicPr>
        <p:blipFill>
          <a:blip r:embed="rId2"/>
          <a:stretch>
            <a:fillRect/>
          </a:stretch>
        </p:blipFill>
        <p:spPr>
          <a:xfrm>
            <a:off x="658368" y="2331720"/>
            <a:ext cx="292608" cy="292608"/>
          </a:xfrm>
          <a:prstGeom prst="rect">
            <a:avLst/>
          </a:prstGeom>
        </p:spPr>
      </p:pic>
      <p:sp>
        <p:nvSpPr>
          <p:cNvPr id="7" name="Text 3"/>
          <p:cNvSpPr/>
          <p:nvPr/>
        </p:nvSpPr>
        <p:spPr>
          <a:xfrm>
            <a:off x="1097280" y="2304288"/>
            <a:ext cx="5120640" cy="384048"/>
          </a:xfrm>
          <a:prstGeom prst="rect">
            <a:avLst/>
          </a:prstGeom>
          <a:noFill/>
          <a:ln/>
        </p:spPr>
        <p:txBody>
          <a:bodyPr wrap="square" rtlCol="0" anchor="ctr"/>
          <a:lstStyle/>
          <a:p>
            <a:pPr indent="0" marL="0">
              <a:buNone/>
            </a:pPr>
            <a:r>
              <a:rPr lang="en-US" sz="1450" dirty="0">
                <a:solidFill>
                  <a:srgbClr val="262B40"/>
                </a:solidFill>
                <a:latin typeface="Calibri" pitchFamily="34" charset="0"/>
                <a:ea typeface="Calibri" pitchFamily="34" charset="-122"/>
                <a:cs typeface="Calibri" pitchFamily="34" charset="-120"/>
              </a:rPr>
              <a:t>Combined datasets into one file</a:t>
            </a:r>
            <a:endParaRPr lang="en-US" sz="1450" dirty="0"/>
          </a:p>
        </p:txBody>
      </p:sp>
      <p:pic>
        <p:nvPicPr>
          <p:cNvPr id="8" name="Image 2" descr="/home/claude/assets/check_navy.png">    </p:cNvPr>
          <p:cNvPicPr>
            <a:picLocks noChangeAspect="1"/>
          </p:cNvPicPr>
          <p:nvPr/>
        </p:nvPicPr>
        <p:blipFill>
          <a:blip r:embed="rId3"/>
          <a:stretch>
            <a:fillRect/>
          </a:stretch>
        </p:blipFill>
        <p:spPr>
          <a:xfrm>
            <a:off x="658368" y="2898648"/>
            <a:ext cx="292608" cy="292608"/>
          </a:xfrm>
          <a:prstGeom prst="rect">
            <a:avLst/>
          </a:prstGeom>
        </p:spPr>
      </p:pic>
      <p:sp>
        <p:nvSpPr>
          <p:cNvPr id="9" name="Text 4"/>
          <p:cNvSpPr/>
          <p:nvPr/>
        </p:nvSpPr>
        <p:spPr>
          <a:xfrm>
            <a:off x="1097280" y="2871216"/>
            <a:ext cx="5120640" cy="384048"/>
          </a:xfrm>
          <a:prstGeom prst="rect">
            <a:avLst/>
          </a:prstGeom>
          <a:noFill/>
          <a:ln/>
        </p:spPr>
        <p:txBody>
          <a:bodyPr wrap="square" rtlCol="0" anchor="ctr"/>
          <a:lstStyle/>
          <a:p>
            <a:pPr indent="0" marL="0">
              <a:buNone/>
            </a:pPr>
            <a:r>
              <a:rPr lang="en-US" sz="1450" dirty="0">
                <a:solidFill>
                  <a:srgbClr val="262B40"/>
                </a:solidFill>
                <a:latin typeface="Calibri" pitchFamily="34" charset="0"/>
                <a:ea typeface="Calibri" pitchFamily="34" charset="-122"/>
                <a:cs typeface="Calibri" pitchFamily="34" charset="-120"/>
              </a:rPr>
              <a:t>Removed duplicates</a:t>
            </a:r>
            <a:endParaRPr lang="en-US" sz="1450" dirty="0"/>
          </a:p>
        </p:txBody>
      </p:sp>
      <p:pic>
        <p:nvPicPr>
          <p:cNvPr id="10" name="Image 3" descr="/home/claude/assets/check_navy.png">    </p:cNvPr>
          <p:cNvPicPr>
            <a:picLocks noChangeAspect="1"/>
          </p:cNvPicPr>
          <p:nvPr/>
        </p:nvPicPr>
        <p:blipFill>
          <a:blip r:embed="rId4"/>
          <a:stretch>
            <a:fillRect/>
          </a:stretch>
        </p:blipFill>
        <p:spPr>
          <a:xfrm>
            <a:off x="658368" y="3465576"/>
            <a:ext cx="292608" cy="292608"/>
          </a:xfrm>
          <a:prstGeom prst="rect">
            <a:avLst/>
          </a:prstGeom>
        </p:spPr>
      </p:pic>
      <p:sp>
        <p:nvSpPr>
          <p:cNvPr id="11" name="Text 5"/>
          <p:cNvSpPr/>
          <p:nvPr/>
        </p:nvSpPr>
        <p:spPr>
          <a:xfrm>
            <a:off x="1097280" y="3438144"/>
            <a:ext cx="5120640" cy="384048"/>
          </a:xfrm>
          <a:prstGeom prst="rect">
            <a:avLst/>
          </a:prstGeom>
          <a:noFill/>
          <a:ln/>
        </p:spPr>
        <p:txBody>
          <a:bodyPr wrap="square" rtlCol="0" anchor="ctr"/>
          <a:lstStyle/>
          <a:p>
            <a:pPr indent="0" marL="0">
              <a:buNone/>
            </a:pPr>
            <a:r>
              <a:rPr lang="en-US" sz="1450" dirty="0">
                <a:solidFill>
                  <a:srgbClr val="262B40"/>
                </a:solidFill>
                <a:latin typeface="Calibri" pitchFamily="34" charset="0"/>
                <a:ea typeface="Calibri" pitchFamily="34" charset="-122"/>
                <a:cs typeface="Calibri" pitchFamily="34" charset="-120"/>
              </a:rPr>
              <a:t>Removed missing values</a:t>
            </a:r>
            <a:endParaRPr lang="en-US" sz="1450" dirty="0"/>
          </a:p>
        </p:txBody>
      </p:sp>
      <p:pic>
        <p:nvPicPr>
          <p:cNvPr id="12" name="Image 4" descr="/home/claude/assets/check_navy.png">    </p:cNvPr>
          <p:cNvPicPr>
            <a:picLocks noChangeAspect="1"/>
          </p:cNvPicPr>
          <p:nvPr/>
        </p:nvPicPr>
        <p:blipFill>
          <a:blip r:embed="rId5"/>
          <a:stretch>
            <a:fillRect/>
          </a:stretch>
        </p:blipFill>
        <p:spPr>
          <a:xfrm>
            <a:off x="658368" y="4032504"/>
            <a:ext cx="292608" cy="292608"/>
          </a:xfrm>
          <a:prstGeom prst="rect">
            <a:avLst/>
          </a:prstGeom>
        </p:spPr>
      </p:pic>
      <p:sp>
        <p:nvSpPr>
          <p:cNvPr id="13" name="Text 6"/>
          <p:cNvSpPr/>
          <p:nvPr/>
        </p:nvSpPr>
        <p:spPr>
          <a:xfrm>
            <a:off x="1097280" y="4005072"/>
            <a:ext cx="5120640" cy="384048"/>
          </a:xfrm>
          <a:prstGeom prst="rect">
            <a:avLst/>
          </a:prstGeom>
          <a:noFill/>
          <a:ln/>
        </p:spPr>
        <p:txBody>
          <a:bodyPr wrap="square" rtlCol="0" anchor="ctr"/>
          <a:lstStyle/>
          <a:p>
            <a:pPr indent="0" marL="0">
              <a:buNone/>
            </a:pPr>
            <a:r>
              <a:rPr lang="en-US" sz="1450" dirty="0">
                <a:solidFill>
                  <a:srgbClr val="262B40"/>
                </a:solidFill>
                <a:latin typeface="Calibri" pitchFamily="34" charset="0"/>
                <a:ea typeface="Calibri" pitchFamily="34" charset="-122"/>
                <a:cs typeface="Calibri" pitchFamily="34" charset="-120"/>
              </a:rPr>
              <a:t>Converted date and time columns</a:t>
            </a:r>
            <a:endParaRPr lang="en-US" sz="1450" dirty="0"/>
          </a:p>
        </p:txBody>
      </p:sp>
      <p:sp>
        <p:nvSpPr>
          <p:cNvPr id="14" name="Shape 7"/>
          <p:cNvSpPr/>
          <p:nvPr/>
        </p:nvSpPr>
        <p:spPr>
          <a:xfrm>
            <a:off x="6675120" y="1737360"/>
            <a:ext cx="4892040" cy="3931920"/>
          </a:xfrm>
          <a:prstGeom prst="roundRect">
            <a:avLst>
              <a:gd name="adj" fmla="val 2326"/>
            </a:avLst>
          </a:prstGeom>
          <a:solidFill>
            <a:srgbClr val="EEF2FA"/>
          </a:solidFill>
          <a:ln w="19050">
            <a:solidFill>
              <a:srgbClr val="CADCFC"/>
            </a:solidFill>
            <a:prstDash val="solid"/>
          </a:ln>
        </p:spPr>
      </p:sp>
      <p:sp>
        <p:nvSpPr>
          <p:cNvPr id="15" name="Text 8"/>
          <p:cNvSpPr/>
          <p:nvPr/>
        </p:nvSpPr>
        <p:spPr>
          <a:xfrm>
            <a:off x="7040880" y="2057400"/>
            <a:ext cx="4160520" cy="320040"/>
          </a:xfrm>
          <a:prstGeom prst="rect">
            <a:avLst/>
          </a:prstGeom>
          <a:noFill/>
          <a:ln/>
        </p:spPr>
        <p:txBody>
          <a:bodyPr wrap="square" rtlCol="0" anchor="ctr"/>
          <a:lstStyle/>
          <a:p>
            <a:pPr indent="0" marL="0">
              <a:buNone/>
            </a:pPr>
            <a:r>
              <a:rPr lang="en-US" sz="1100" b="1" spc="150" kern="0" dirty="0">
                <a:solidFill>
                  <a:srgbClr val="F2994A"/>
                </a:solidFill>
                <a:latin typeface="Calibri" pitchFamily="34" charset="0"/>
                <a:ea typeface="Calibri" pitchFamily="34" charset="-122"/>
                <a:cs typeface="Calibri" pitchFamily="34" charset="-120"/>
              </a:rPr>
              <a:t>NEW VARIABLES CREATED</a:t>
            </a:r>
            <a:endParaRPr lang="en-US" sz="1100" dirty="0"/>
          </a:p>
        </p:txBody>
      </p:sp>
      <p:sp>
        <p:nvSpPr>
          <p:cNvPr id="16" name="Shape 9"/>
          <p:cNvSpPr/>
          <p:nvPr/>
        </p:nvSpPr>
        <p:spPr>
          <a:xfrm>
            <a:off x="7040880" y="2606040"/>
            <a:ext cx="457200" cy="457200"/>
          </a:xfrm>
          <a:prstGeom prst="ellipse">
            <a:avLst/>
          </a:prstGeom>
          <a:solidFill>
            <a:srgbClr val="FFFFFF"/>
          </a:solidFill>
          <a:ln/>
        </p:spPr>
      </p:sp>
      <p:pic>
        <p:nvPicPr>
          <p:cNvPr id="17" name="Image 5" descr="/home/claude/assets/regclock_navy.png">    </p:cNvPr>
          <p:cNvPicPr>
            <a:picLocks noChangeAspect="1"/>
          </p:cNvPicPr>
          <p:nvPr/>
        </p:nvPicPr>
        <p:blipFill>
          <a:blip r:embed="rId6"/>
          <a:stretch>
            <a:fillRect/>
          </a:stretch>
        </p:blipFill>
        <p:spPr>
          <a:xfrm>
            <a:off x="7150608" y="2715768"/>
            <a:ext cx="237744" cy="237744"/>
          </a:xfrm>
          <a:prstGeom prst="rect">
            <a:avLst/>
          </a:prstGeom>
        </p:spPr>
      </p:pic>
      <p:sp>
        <p:nvSpPr>
          <p:cNvPr id="18" name="Text 10"/>
          <p:cNvSpPr/>
          <p:nvPr/>
        </p:nvSpPr>
        <p:spPr>
          <a:xfrm>
            <a:off x="7680960" y="2578608"/>
            <a:ext cx="3520440" cy="512064"/>
          </a:xfrm>
          <a:prstGeom prst="rect">
            <a:avLst/>
          </a:prstGeom>
          <a:noFill/>
          <a:ln/>
        </p:spPr>
        <p:txBody>
          <a:bodyPr wrap="square" rtlCol="0" anchor="ctr"/>
          <a:lstStyle/>
          <a:p>
            <a:pPr indent="0" marL="0">
              <a:buNone/>
            </a:pPr>
            <a:r>
              <a:rPr lang="en-US" sz="1500" dirty="0">
                <a:solidFill>
                  <a:srgbClr val="1E2761"/>
                </a:solidFill>
                <a:latin typeface="Calibri" pitchFamily="34" charset="0"/>
                <a:ea typeface="Calibri" pitchFamily="34" charset="-122"/>
                <a:cs typeface="Calibri" pitchFamily="34" charset="-120"/>
              </a:rPr>
              <a:t>Ride Length</a:t>
            </a:r>
            <a:endParaRPr lang="en-US" sz="1500" dirty="0"/>
          </a:p>
        </p:txBody>
      </p:sp>
      <p:sp>
        <p:nvSpPr>
          <p:cNvPr id="19" name="Shape 11"/>
          <p:cNvSpPr/>
          <p:nvPr/>
        </p:nvSpPr>
        <p:spPr>
          <a:xfrm>
            <a:off x="7040880" y="3291840"/>
            <a:ext cx="457200" cy="457200"/>
          </a:xfrm>
          <a:prstGeom prst="ellipse">
            <a:avLst/>
          </a:prstGeom>
          <a:solidFill>
            <a:srgbClr val="FFFFFF"/>
          </a:solidFill>
          <a:ln/>
        </p:spPr>
      </p:sp>
      <p:pic>
        <p:nvPicPr>
          <p:cNvPr id="20" name="Image 6" descr="/home/claude/assets/calendar_navy.png">    </p:cNvPr>
          <p:cNvPicPr>
            <a:picLocks noChangeAspect="1"/>
          </p:cNvPicPr>
          <p:nvPr/>
        </p:nvPicPr>
        <p:blipFill>
          <a:blip r:embed="rId7"/>
          <a:stretch>
            <a:fillRect/>
          </a:stretch>
        </p:blipFill>
        <p:spPr>
          <a:xfrm>
            <a:off x="7150608" y="3401568"/>
            <a:ext cx="237744" cy="237744"/>
          </a:xfrm>
          <a:prstGeom prst="rect">
            <a:avLst/>
          </a:prstGeom>
        </p:spPr>
      </p:pic>
      <p:sp>
        <p:nvSpPr>
          <p:cNvPr id="21" name="Text 12"/>
          <p:cNvSpPr/>
          <p:nvPr/>
        </p:nvSpPr>
        <p:spPr>
          <a:xfrm>
            <a:off x="7680960" y="3264408"/>
            <a:ext cx="3520440" cy="512064"/>
          </a:xfrm>
          <a:prstGeom prst="rect">
            <a:avLst/>
          </a:prstGeom>
          <a:noFill/>
          <a:ln/>
        </p:spPr>
        <p:txBody>
          <a:bodyPr wrap="square" rtlCol="0" anchor="ctr"/>
          <a:lstStyle/>
          <a:p>
            <a:pPr indent="0" marL="0">
              <a:buNone/>
            </a:pPr>
            <a:r>
              <a:rPr lang="en-US" sz="1500" dirty="0">
                <a:solidFill>
                  <a:srgbClr val="1E2761"/>
                </a:solidFill>
                <a:latin typeface="Calibri" pitchFamily="34" charset="0"/>
                <a:ea typeface="Calibri" pitchFamily="34" charset="-122"/>
                <a:cs typeface="Calibri" pitchFamily="34" charset="-120"/>
              </a:rPr>
              <a:t>Day of Week</a:t>
            </a:r>
            <a:endParaRPr lang="en-US" sz="1500" dirty="0"/>
          </a:p>
        </p:txBody>
      </p:sp>
      <p:sp>
        <p:nvSpPr>
          <p:cNvPr id="22" name="Shape 13"/>
          <p:cNvSpPr/>
          <p:nvPr/>
        </p:nvSpPr>
        <p:spPr>
          <a:xfrm>
            <a:off x="7040880" y="3977640"/>
            <a:ext cx="457200" cy="457200"/>
          </a:xfrm>
          <a:prstGeom prst="ellipse">
            <a:avLst/>
          </a:prstGeom>
          <a:solidFill>
            <a:srgbClr val="FFFFFF"/>
          </a:solidFill>
          <a:ln/>
        </p:spPr>
      </p:sp>
      <p:pic>
        <p:nvPicPr>
          <p:cNvPr id="23" name="Image 7" descr="/home/claude/assets/sun_navy.png">    </p:cNvPr>
          <p:cNvPicPr>
            <a:picLocks noChangeAspect="1"/>
          </p:cNvPicPr>
          <p:nvPr/>
        </p:nvPicPr>
        <p:blipFill>
          <a:blip r:embed="rId8"/>
          <a:stretch>
            <a:fillRect/>
          </a:stretch>
        </p:blipFill>
        <p:spPr>
          <a:xfrm>
            <a:off x="7150608" y="4087368"/>
            <a:ext cx="237744" cy="237744"/>
          </a:xfrm>
          <a:prstGeom prst="rect">
            <a:avLst/>
          </a:prstGeom>
        </p:spPr>
      </p:pic>
      <p:sp>
        <p:nvSpPr>
          <p:cNvPr id="24" name="Text 14"/>
          <p:cNvSpPr/>
          <p:nvPr/>
        </p:nvSpPr>
        <p:spPr>
          <a:xfrm>
            <a:off x="7680960" y="3950208"/>
            <a:ext cx="3520440" cy="512064"/>
          </a:xfrm>
          <a:prstGeom prst="rect">
            <a:avLst/>
          </a:prstGeom>
          <a:noFill/>
          <a:ln/>
        </p:spPr>
        <p:txBody>
          <a:bodyPr wrap="square" rtlCol="0" anchor="ctr"/>
          <a:lstStyle/>
          <a:p>
            <a:pPr indent="0" marL="0">
              <a:buNone/>
            </a:pPr>
            <a:r>
              <a:rPr lang="en-US" sz="1500" dirty="0">
                <a:solidFill>
                  <a:srgbClr val="1E2761"/>
                </a:solidFill>
                <a:latin typeface="Calibri" pitchFamily="34" charset="0"/>
                <a:ea typeface="Calibri" pitchFamily="34" charset="-122"/>
                <a:cs typeface="Calibri" pitchFamily="34" charset="-120"/>
              </a:rPr>
              <a:t>Month</a:t>
            </a:r>
            <a:endParaRPr lang="en-US" sz="1500" dirty="0"/>
          </a:p>
        </p:txBody>
      </p:sp>
      <p:sp>
        <p:nvSpPr>
          <p:cNvPr id="25" name="Shape 15"/>
          <p:cNvSpPr/>
          <p:nvPr/>
        </p:nvSpPr>
        <p:spPr>
          <a:xfrm>
            <a:off x="7040880" y="4663440"/>
            <a:ext cx="457200" cy="457200"/>
          </a:xfrm>
          <a:prstGeom prst="ellipse">
            <a:avLst/>
          </a:prstGeom>
          <a:solidFill>
            <a:srgbClr val="FFFFFF"/>
          </a:solidFill>
          <a:ln/>
        </p:spPr>
      </p:sp>
      <p:pic>
        <p:nvPicPr>
          <p:cNvPr id="26" name="Image 8" descr="/home/claude/assets/clock_navy.png">    </p:cNvPr>
          <p:cNvPicPr>
            <a:picLocks noChangeAspect="1"/>
          </p:cNvPicPr>
          <p:nvPr/>
        </p:nvPicPr>
        <p:blipFill>
          <a:blip r:embed="rId9"/>
          <a:stretch>
            <a:fillRect/>
          </a:stretch>
        </p:blipFill>
        <p:spPr>
          <a:xfrm>
            <a:off x="7150608" y="4773168"/>
            <a:ext cx="237744" cy="237744"/>
          </a:xfrm>
          <a:prstGeom prst="rect">
            <a:avLst/>
          </a:prstGeom>
        </p:spPr>
      </p:pic>
      <p:sp>
        <p:nvSpPr>
          <p:cNvPr id="27" name="Text 16"/>
          <p:cNvSpPr/>
          <p:nvPr/>
        </p:nvSpPr>
        <p:spPr>
          <a:xfrm>
            <a:off x="7680960" y="4636008"/>
            <a:ext cx="3520440" cy="512064"/>
          </a:xfrm>
          <a:prstGeom prst="rect">
            <a:avLst/>
          </a:prstGeom>
          <a:noFill/>
          <a:ln/>
        </p:spPr>
        <p:txBody>
          <a:bodyPr wrap="square" rtlCol="0" anchor="ctr"/>
          <a:lstStyle/>
          <a:p>
            <a:pPr indent="0" marL="0">
              <a:buNone/>
            </a:pPr>
            <a:r>
              <a:rPr lang="en-US" sz="1500" dirty="0">
                <a:solidFill>
                  <a:srgbClr val="1E2761"/>
                </a:solidFill>
                <a:latin typeface="Calibri" pitchFamily="34" charset="0"/>
                <a:ea typeface="Calibri" pitchFamily="34" charset="-122"/>
                <a:cs typeface="Calibri" pitchFamily="34" charset="-120"/>
              </a:rPr>
              <a:t>Hour</a:t>
            </a:r>
            <a:endParaRPr lang="en-US" sz="1500" dirty="0"/>
          </a:p>
        </p:txBody>
      </p:sp>
      <p:sp>
        <p:nvSpPr>
          <p:cNvPr id="28" name="Text 17"/>
          <p:cNvSpPr/>
          <p:nvPr/>
        </p:nvSpPr>
        <p:spPr>
          <a:xfrm>
            <a:off x="457200" y="6473952"/>
            <a:ext cx="5486400" cy="274320"/>
          </a:xfrm>
          <a:prstGeom prst="rect">
            <a:avLst/>
          </a:prstGeom>
          <a:noFill/>
          <a:ln/>
        </p:spPr>
        <p:txBody>
          <a:bodyPr wrap="square" rtlCol="0" anchor="ctr"/>
          <a:lstStyle/>
          <a:p>
            <a:pPr algn="l" indent="0" marL="0">
              <a:buNone/>
            </a:pPr>
            <a:r>
              <a:rPr lang="en-US" sz="900" spc="150" kern="0" dirty="0">
                <a:solidFill>
                  <a:srgbClr val="6B7280"/>
                </a:solidFill>
                <a:latin typeface="Calibri" pitchFamily="34" charset="0"/>
                <a:ea typeface="Calibri" pitchFamily="34" charset="-122"/>
                <a:cs typeface="Calibri" pitchFamily="34" charset="-120"/>
              </a:rPr>
              <a:t>CYCLISTIC BIKE SHARE ANALYSIS</a:t>
            </a:r>
            <a:endParaRPr lang="en-US" sz="900" dirty="0"/>
          </a:p>
        </p:txBody>
      </p:sp>
      <p:sp>
        <p:nvSpPr>
          <p:cNvPr id="29" name="Text 18"/>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58368" y="256032"/>
            <a:ext cx="7315200" cy="274320"/>
          </a:xfrm>
          <a:prstGeom prst="rect">
            <a:avLst/>
          </a:prstGeom>
          <a:noFill/>
          <a:ln/>
        </p:spPr>
        <p:txBody>
          <a:bodyPr wrap="square" rtlCol="0" anchor="ctr"/>
          <a:lstStyle/>
          <a:p>
            <a:pPr indent="0" marL="0">
              <a:buNone/>
            </a:pPr>
            <a:r>
              <a:rPr lang="en-US" sz="1100" b="1" spc="200" kern="0" dirty="0">
                <a:solidFill>
                  <a:srgbClr val="F2994A"/>
                </a:solidFill>
                <a:latin typeface="Calibri" pitchFamily="34" charset="0"/>
                <a:ea typeface="Calibri" pitchFamily="34" charset="-122"/>
                <a:cs typeface="Calibri" pitchFamily="34" charset="-120"/>
              </a:rPr>
              <a:t>SECTION 08</a:t>
            </a:r>
            <a:endParaRPr lang="en-US" sz="1100" dirty="0"/>
          </a:p>
        </p:txBody>
      </p:sp>
      <p:sp>
        <p:nvSpPr>
          <p:cNvPr id="3" name="Text 1"/>
          <p:cNvSpPr/>
          <p:nvPr/>
        </p:nvSpPr>
        <p:spPr>
          <a:xfrm>
            <a:off x="640080" y="457200"/>
            <a:ext cx="10881360" cy="73152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Dashboard Overview</a:t>
            </a:r>
            <a:endParaRPr lang="en-US" sz="3200" dirty="0"/>
          </a:p>
        </p:txBody>
      </p:sp>
      <p:sp>
        <p:nvSpPr>
          <p:cNvPr id="4" name="Text 2"/>
          <p:cNvSpPr/>
          <p:nvPr/>
        </p:nvSpPr>
        <p:spPr>
          <a:xfrm>
            <a:off x="658368" y="1188720"/>
            <a:ext cx="7315200" cy="3200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Executive Summary Dashboard</a:t>
            </a:r>
            <a:endParaRPr lang="en-US" sz="1300" dirty="0"/>
          </a:p>
        </p:txBody>
      </p:sp>
      <p:sp>
        <p:nvSpPr>
          <p:cNvPr id="5" name="Shape 3"/>
          <p:cNvSpPr/>
          <p:nvPr/>
        </p:nvSpPr>
        <p:spPr>
          <a:xfrm>
            <a:off x="2599187" y="1581912"/>
            <a:ext cx="6990577" cy="4791456"/>
          </a:xfrm>
          <a:prstGeom prst="roundRect">
            <a:avLst>
              <a:gd name="adj" fmla="val 1527"/>
            </a:avLst>
          </a:prstGeom>
          <a:solidFill>
            <a:srgbClr val="FFFFFF"/>
          </a:solidFill>
          <a:ln w="19050">
            <a:solidFill>
              <a:srgbClr val="CADCFC"/>
            </a:solidFill>
            <a:prstDash val="solid"/>
          </a:ln>
          <a:effectLst>
            <a:outerShdw sx="100000" sy="100000" kx="0" ky="0" algn="bl" rotWithShape="0" blurRad="152400" dist="63500" dir="5400000">
              <a:srgbClr val="1E2761">
                <a:alpha val="18000"/>
              </a:srgbClr>
            </a:outerShdw>
          </a:effectLst>
        </p:spPr>
      </p:sp>
      <p:pic>
        <p:nvPicPr>
          <p:cNvPr id="6" name="Image 0" descr="/home/claude/assets/dashboard1.png">    </p:cNvPr>
          <p:cNvPicPr>
            <a:picLocks noChangeAspect="1"/>
          </p:cNvPicPr>
          <p:nvPr/>
        </p:nvPicPr>
        <p:blipFill>
          <a:blip r:embed="rId1"/>
          <a:stretch>
            <a:fillRect/>
          </a:stretch>
        </p:blipFill>
        <p:spPr>
          <a:xfrm>
            <a:off x="2708915" y="1691640"/>
            <a:ext cx="6771121" cy="4572000"/>
          </a:xfrm>
          <a:prstGeom prst="rect">
            <a:avLst/>
          </a:prstGeom>
        </p:spPr>
      </p:pic>
      <p:sp>
        <p:nvSpPr>
          <p:cNvPr id="7" name="Text 4"/>
          <p:cNvSpPr/>
          <p:nvPr/>
        </p:nvSpPr>
        <p:spPr>
          <a:xfrm>
            <a:off x="457200" y="6473952"/>
            <a:ext cx="5486400" cy="274320"/>
          </a:xfrm>
          <a:prstGeom prst="rect">
            <a:avLst/>
          </a:prstGeom>
          <a:noFill/>
          <a:ln/>
        </p:spPr>
        <p:txBody>
          <a:bodyPr wrap="square" rtlCol="0" anchor="ctr"/>
          <a:lstStyle/>
          <a:p>
            <a:pPr algn="l" indent="0" marL="0">
              <a:buNone/>
            </a:pPr>
            <a:r>
              <a:rPr lang="en-US" sz="900" spc="150" kern="0" dirty="0">
                <a:solidFill>
                  <a:srgbClr val="6B7280"/>
                </a:solidFill>
                <a:latin typeface="Calibri" pitchFamily="34" charset="0"/>
                <a:ea typeface="Calibri" pitchFamily="34" charset="-122"/>
                <a:cs typeface="Calibri" pitchFamily="34" charset="-120"/>
              </a:rPr>
              <a:t>CYCLISTIC BIKE SHARE ANALYSIS</a:t>
            </a:r>
            <a:endParaRPr lang="en-US" sz="900" dirty="0"/>
          </a:p>
        </p:txBody>
      </p:sp>
      <p:sp>
        <p:nvSpPr>
          <p:cNvPr id="8" name="Text 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58368" y="256032"/>
            <a:ext cx="7315200" cy="274320"/>
          </a:xfrm>
          <a:prstGeom prst="rect">
            <a:avLst/>
          </a:prstGeom>
          <a:noFill/>
          <a:ln/>
        </p:spPr>
        <p:txBody>
          <a:bodyPr wrap="square" rtlCol="0" anchor="ctr"/>
          <a:lstStyle/>
          <a:p>
            <a:pPr indent="0" marL="0">
              <a:buNone/>
            </a:pPr>
            <a:r>
              <a:rPr lang="en-US" sz="1100" b="1" spc="200" kern="0" dirty="0">
                <a:solidFill>
                  <a:srgbClr val="F2994A"/>
                </a:solidFill>
                <a:latin typeface="Calibri" pitchFamily="34" charset="0"/>
                <a:ea typeface="Calibri" pitchFamily="34" charset="-122"/>
                <a:cs typeface="Calibri" pitchFamily="34" charset="-120"/>
              </a:rPr>
              <a:t>SECTION 08</a:t>
            </a:r>
            <a:endParaRPr lang="en-US" sz="1100" dirty="0"/>
          </a:p>
        </p:txBody>
      </p:sp>
      <p:sp>
        <p:nvSpPr>
          <p:cNvPr id="3" name="Text 1"/>
          <p:cNvSpPr/>
          <p:nvPr/>
        </p:nvSpPr>
        <p:spPr>
          <a:xfrm>
            <a:off x="640080" y="457200"/>
            <a:ext cx="10881360" cy="73152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Dashboard Overview</a:t>
            </a:r>
            <a:endParaRPr lang="en-US" sz="3200" dirty="0"/>
          </a:p>
        </p:txBody>
      </p:sp>
      <p:sp>
        <p:nvSpPr>
          <p:cNvPr id="4" name="Text 2"/>
          <p:cNvSpPr/>
          <p:nvPr/>
        </p:nvSpPr>
        <p:spPr>
          <a:xfrm>
            <a:off x="658368" y="1188720"/>
            <a:ext cx="7315200" cy="32004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Customer Behavior Dashboard</a:t>
            </a:r>
            <a:endParaRPr lang="en-US" sz="1300" dirty="0"/>
          </a:p>
        </p:txBody>
      </p:sp>
      <p:sp>
        <p:nvSpPr>
          <p:cNvPr id="5" name="Shape 3"/>
          <p:cNvSpPr/>
          <p:nvPr/>
        </p:nvSpPr>
        <p:spPr>
          <a:xfrm>
            <a:off x="2561191" y="1581912"/>
            <a:ext cx="7066570" cy="4791456"/>
          </a:xfrm>
          <a:prstGeom prst="roundRect">
            <a:avLst>
              <a:gd name="adj" fmla="val 1527"/>
            </a:avLst>
          </a:prstGeom>
          <a:solidFill>
            <a:srgbClr val="FFFFFF"/>
          </a:solidFill>
          <a:ln w="19050">
            <a:solidFill>
              <a:srgbClr val="CADCFC"/>
            </a:solidFill>
            <a:prstDash val="solid"/>
          </a:ln>
          <a:effectLst>
            <a:outerShdw sx="100000" sy="100000" kx="0" ky="0" algn="bl" rotWithShape="0" blurRad="152400" dist="63500" dir="5400000">
              <a:srgbClr val="1E2761">
                <a:alpha val="18000"/>
              </a:srgbClr>
            </a:outerShdw>
          </a:effectLst>
        </p:spPr>
      </p:sp>
      <p:pic>
        <p:nvPicPr>
          <p:cNvPr id="6" name="Image 0" descr="/home/claude/assets/dashboard2.png">    </p:cNvPr>
          <p:cNvPicPr>
            <a:picLocks noChangeAspect="1"/>
          </p:cNvPicPr>
          <p:nvPr/>
        </p:nvPicPr>
        <p:blipFill>
          <a:blip r:embed="rId1"/>
          <a:stretch>
            <a:fillRect/>
          </a:stretch>
        </p:blipFill>
        <p:spPr>
          <a:xfrm>
            <a:off x="2670919" y="1691640"/>
            <a:ext cx="6847114" cy="4572000"/>
          </a:xfrm>
          <a:prstGeom prst="rect">
            <a:avLst/>
          </a:prstGeom>
        </p:spPr>
      </p:pic>
      <p:sp>
        <p:nvSpPr>
          <p:cNvPr id="7" name="Text 4"/>
          <p:cNvSpPr/>
          <p:nvPr/>
        </p:nvSpPr>
        <p:spPr>
          <a:xfrm>
            <a:off x="457200" y="6473952"/>
            <a:ext cx="5486400" cy="274320"/>
          </a:xfrm>
          <a:prstGeom prst="rect">
            <a:avLst/>
          </a:prstGeom>
          <a:noFill/>
          <a:ln/>
        </p:spPr>
        <p:txBody>
          <a:bodyPr wrap="square" rtlCol="0" anchor="ctr"/>
          <a:lstStyle/>
          <a:p>
            <a:pPr algn="l" indent="0" marL="0">
              <a:buNone/>
            </a:pPr>
            <a:r>
              <a:rPr lang="en-US" sz="900" spc="150" kern="0" dirty="0">
                <a:solidFill>
                  <a:srgbClr val="6B7280"/>
                </a:solidFill>
                <a:latin typeface="Calibri" pitchFamily="34" charset="0"/>
                <a:ea typeface="Calibri" pitchFamily="34" charset="-122"/>
                <a:cs typeface="Calibri" pitchFamily="34" charset="-120"/>
              </a:rPr>
              <a:t>CYCLISTIC BIKE SHARE ANALYSIS</a:t>
            </a:r>
            <a:endParaRPr lang="en-US" sz="900" dirty="0"/>
          </a:p>
        </p:txBody>
      </p:sp>
      <p:sp>
        <p:nvSpPr>
          <p:cNvPr id="8" name="Text 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58368" y="256032"/>
            <a:ext cx="7315200" cy="274320"/>
          </a:xfrm>
          <a:prstGeom prst="rect">
            <a:avLst/>
          </a:prstGeom>
          <a:noFill/>
          <a:ln/>
        </p:spPr>
        <p:txBody>
          <a:bodyPr wrap="square" rtlCol="0" anchor="ctr"/>
          <a:lstStyle/>
          <a:p>
            <a:pPr indent="0" marL="0">
              <a:buNone/>
            </a:pPr>
            <a:r>
              <a:rPr lang="en-US" sz="1100" b="1" spc="200" kern="0" dirty="0">
                <a:solidFill>
                  <a:srgbClr val="F2994A"/>
                </a:solidFill>
                <a:latin typeface="Calibri" pitchFamily="34" charset="0"/>
                <a:ea typeface="Calibri" pitchFamily="34" charset="-122"/>
                <a:cs typeface="Calibri" pitchFamily="34" charset="-120"/>
              </a:rPr>
              <a:t>SECTION 09</a:t>
            </a:r>
            <a:endParaRPr lang="en-US" sz="1100" dirty="0"/>
          </a:p>
        </p:txBody>
      </p:sp>
      <p:sp>
        <p:nvSpPr>
          <p:cNvPr id="3" name="Text 1"/>
          <p:cNvSpPr/>
          <p:nvPr/>
        </p:nvSpPr>
        <p:spPr>
          <a:xfrm>
            <a:off x="640080" y="457200"/>
            <a:ext cx="10881360" cy="73152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Key Findings</a:t>
            </a:r>
            <a:endParaRPr lang="en-US" sz="3200" dirty="0"/>
          </a:p>
        </p:txBody>
      </p:sp>
      <p:sp>
        <p:nvSpPr>
          <p:cNvPr id="4" name="Shape 2"/>
          <p:cNvSpPr/>
          <p:nvPr/>
        </p:nvSpPr>
        <p:spPr>
          <a:xfrm>
            <a:off x="640080" y="1691640"/>
            <a:ext cx="5257800" cy="786384"/>
          </a:xfrm>
          <a:prstGeom prst="roundRect">
            <a:avLst>
              <a:gd name="adj" fmla="val 9302"/>
            </a:avLst>
          </a:prstGeom>
          <a:solidFill>
            <a:srgbClr val="EEF2FA"/>
          </a:solidFill>
          <a:ln/>
        </p:spPr>
      </p:sp>
      <p:sp>
        <p:nvSpPr>
          <p:cNvPr id="5" name="Shape 3"/>
          <p:cNvSpPr/>
          <p:nvPr/>
        </p:nvSpPr>
        <p:spPr>
          <a:xfrm>
            <a:off x="822960" y="1856232"/>
            <a:ext cx="457200" cy="457200"/>
          </a:xfrm>
          <a:prstGeom prst="ellipse">
            <a:avLst/>
          </a:prstGeom>
          <a:solidFill>
            <a:srgbClr val="FFFFFF"/>
          </a:solidFill>
          <a:ln/>
        </p:spPr>
      </p:sp>
      <p:pic>
        <p:nvPicPr>
          <p:cNvPr id="6" name="Image 0" descr="/home/claude/assets/regclock_navy.png">    </p:cNvPr>
          <p:cNvPicPr>
            <a:picLocks noChangeAspect="1"/>
          </p:cNvPicPr>
          <p:nvPr/>
        </p:nvPicPr>
        <p:blipFill>
          <a:blip r:embed="rId1"/>
          <a:stretch>
            <a:fillRect/>
          </a:stretch>
        </p:blipFill>
        <p:spPr>
          <a:xfrm>
            <a:off x="932688" y="1965960"/>
            <a:ext cx="237744" cy="237744"/>
          </a:xfrm>
          <a:prstGeom prst="rect">
            <a:avLst/>
          </a:prstGeom>
        </p:spPr>
      </p:pic>
      <p:sp>
        <p:nvSpPr>
          <p:cNvPr id="7" name="Text 4"/>
          <p:cNvSpPr/>
          <p:nvPr/>
        </p:nvSpPr>
        <p:spPr>
          <a:xfrm>
            <a:off x="1463040" y="1746504"/>
            <a:ext cx="4251960" cy="676656"/>
          </a:xfrm>
          <a:prstGeom prst="rect">
            <a:avLst/>
          </a:prstGeom>
          <a:noFill/>
          <a:ln/>
        </p:spPr>
        <p:txBody>
          <a:bodyPr wrap="square" rtlCol="0" anchor="ctr"/>
          <a:lstStyle/>
          <a:p>
            <a:pPr indent="0" marL="0">
              <a:lnSpc>
                <a:spcPts val="1500"/>
              </a:lnSpc>
              <a:buNone/>
            </a:pPr>
            <a:r>
              <a:rPr lang="en-US" sz="1250" dirty="0">
                <a:solidFill>
                  <a:srgbClr val="262B40"/>
                </a:solidFill>
                <a:latin typeface="Calibri" pitchFamily="34" charset="0"/>
                <a:ea typeface="Calibri" pitchFamily="34" charset="-122"/>
                <a:cs typeface="Calibri" pitchFamily="34" charset="-120"/>
              </a:rPr>
              <a:t>Casual riders take longer rides.</a:t>
            </a:r>
            <a:endParaRPr lang="en-US" sz="1250" dirty="0"/>
          </a:p>
        </p:txBody>
      </p:sp>
      <p:sp>
        <p:nvSpPr>
          <p:cNvPr id="8" name="Shape 5"/>
          <p:cNvSpPr/>
          <p:nvPr/>
        </p:nvSpPr>
        <p:spPr>
          <a:xfrm>
            <a:off x="640080" y="2624328"/>
            <a:ext cx="5257800" cy="786384"/>
          </a:xfrm>
          <a:prstGeom prst="roundRect">
            <a:avLst>
              <a:gd name="adj" fmla="val 9302"/>
            </a:avLst>
          </a:prstGeom>
          <a:solidFill>
            <a:srgbClr val="EEF2FA"/>
          </a:solidFill>
          <a:ln/>
        </p:spPr>
      </p:sp>
      <p:sp>
        <p:nvSpPr>
          <p:cNvPr id="9" name="Shape 6"/>
          <p:cNvSpPr/>
          <p:nvPr/>
        </p:nvSpPr>
        <p:spPr>
          <a:xfrm>
            <a:off x="822960" y="2788920"/>
            <a:ext cx="457200" cy="457200"/>
          </a:xfrm>
          <a:prstGeom prst="ellipse">
            <a:avLst/>
          </a:prstGeom>
          <a:solidFill>
            <a:srgbClr val="FFFFFF"/>
          </a:solidFill>
          <a:ln/>
        </p:spPr>
      </p:sp>
      <p:pic>
        <p:nvPicPr>
          <p:cNvPr id="10" name="Image 1" descr="/home/claude/assets/sync_navy.png">    </p:cNvPr>
          <p:cNvPicPr>
            <a:picLocks noChangeAspect="1"/>
          </p:cNvPicPr>
          <p:nvPr/>
        </p:nvPicPr>
        <p:blipFill>
          <a:blip r:embed="rId2"/>
          <a:stretch>
            <a:fillRect/>
          </a:stretch>
        </p:blipFill>
        <p:spPr>
          <a:xfrm>
            <a:off x="932688" y="2898648"/>
            <a:ext cx="237744" cy="237744"/>
          </a:xfrm>
          <a:prstGeom prst="rect">
            <a:avLst/>
          </a:prstGeom>
        </p:spPr>
      </p:pic>
      <p:sp>
        <p:nvSpPr>
          <p:cNvPr id="11" name="Text 7"/>
          <p:cNvSpPr/>
          <p:nvPr/>
        </p:nvSpPr>
        <p:spPr>
          <a:xfrm>
            <a:off x="1463040" y="2679192"/>
            <a:ext cx="4251960" cy="676656"/>
          </a:xfrm>
          <a:prstGeom prst="rect">
            <a:avLst/>
          </a:prstGeom>
          <a:noFill/>
          <a:ln/>
        </p:spPr>
        <p:txBody>
          <a:bodyPr wrap="square" rtlCol="0" anchor="ctr"/>
          <a:lstStyle/>
          <a:p>
            <a:pPr indent="0" marL="0">
              <a:lnSpc>
                <a:spcPts val="1500"/>
              </a:lnSpc>
              <a:buNone/>
            </a:pPr>
            <a:r>
              <a:rPr lang="en-US" sz="1250" dirty="0">
                <a:solidFill>
                  <a:srgbClr val="262B40"/>
                </a:solidFill>
                <a:latin typeface="Calibri" pitchFamily="34" charset="0"/>
                <a:ea typeface="Calibri" pitchFamily="34" charset="-122"/>
                <a:cs typeface="Calibri" pitchFamily="34" charset="-120"/>
              </a:rPr>
              <a:t>Members ride more frequently.</a:t>
            </a:r>
            <a:endParaRPr lang="en-US" sz="1250" dirty="0"/>
          </a:p>
        </p:txBody>
      </p:sp>
      <p:sp>
        <p:nvSpPr>
          <p:cNvPr id="12" name="Shape 8"/>
          <p:cNvSpPr/>
          <p:nvPr/>
        </p:nvSpPr>
        <p:spPr>
          <a:xfrm>
            <a:off x="640080" y="3557016"/>
            <a:ext cx="5257800" cy="786384"/>
          </a:xfrm>
          <a:prstGeom prst="roundRect">
            <a:avLst>
              <a:gd name="adj" fmla="val 9302"/>
            </a:avLst>
          </a:prstGeom>
          <a:solidFill>
            <a:srgbClr val="EEF2FA"/>
          </a:solidFill>
          <a:ln/>
        </p:spPr>
      </p:sp>
      <p:sp>
        <p:nvSpPr>
          <p:cNvPr id="13" name="Shape 9"/>
          <p:cNvSpPr/>
          <p:nvPr/>
        </p:nvSpPr>
        <p:spPr>
          <a:xfrm>
            <a:off x="822960" y="3721608"/>
            <a:ext cx="457200" cy="457200"/>
          </a:xfrm>
          <a:prstGeom prst="ellipse">
            <a:avLst/>
          </a:prstGeom>
          <a:solidFill>
            <a:srgbClr val="FFFFFF"/>
          </a:solidFill>
          <a:ln/>
        </p:spPr>
      </p:sp>
      <p:pic>
        <p:nvPicPr>
          <p:cNvPr id="14" name="Image 2" descr="/home/claude/assets/calendar_navy.png">    </p:cNvPr>
          <p:cNvPicPr>
            <a:picLocks noChangeAspect="1"/>
          </p:cNvPicPr>
          <p:nvPr/>
        </p:nvPicPr>
        <p:blipFill>
          <a:blip r:embed="rId3"/>
          <a:stretch>
            <a:fillRect/>
          </a:stretch>
        </p:blipFill>
        <p:spPr>
          <a:xfrm>
            <a:off x="932688" y="3831336"/>
            <a:ext cx="237744" cy="237744"/>
          </a:xfrm>
          <a:prstGeom prst="rect">
            <a:avLst/>
          </a:prstGeom>
        </p:spPr>
      </p:pic>
      <p:sp>
        <p:nvSpPr>
          <p:cNvPr id="15" name="Text 10"/>
          <p:cNvSpPr/>
          <p:nvPr/>
        </p:nvSpPr>
        <p:spPr>
          <a:xfrm>
            <a:off x="1463040" y="3611880"/>
            <a:ext cx="4251960" cy="676656"/>
          </a:xfrm>
          <a:prstGeom prst="rect">
            <a:avLst/>
          </a:prstGeom>
          <a:noFill/>
          <a:ln/>
        </p:spPr>
        <p:txBody>
          <a:bodyPr wrap="square" rtlCol="0" anchor="ctr"/>
          <a:lstStyle/>
          <a:p>
            <a:pPr indent="0" marL="0">
              <a:lnSpc>
                <a:spcPts val="1500"/>
              </a:lnSpc>
              <a:buNone/>
            </a:pPr>
            <a:r>
              <a:rPr lang="en-US" sz="1250" dirty="0">
                <a:solidFill>
                  <a:srgbClr val="262B40"/>
                </a:solidFill>
                <a:latin typeface="Calibri" pitchFamily="34" charset="0"/>
                <a:ea typeface="Calibri" pitchFamily="34" charset="-122"/>
                <a:cs typeface="Calibri" pitchFamily="34" charset="-120"/>
              </a:rPr>
              <a:t>Casual rides increase during weekends.</a:t>
            </a:r>
            <a:endParaRPr lang="en-US" sz="1250" dirty="0"/>
          </a:p>
        </p:txBody>
      </p:sp>
      <p:sp>
        <p:nvSpPr>
          <p:cNvPr id="16" name="Shape 11"/>
          <p:cNvSpPr/>
          <p:nvPr/>
        </p:nvSpPr>
        <p:spPr>
          <a:xfrm>
            <a:off x="640080" y="4489704"/>
            <a:ext cx="5257800" cy="786384"/>
          </a:xfrm>
          <a:prstGeom prst="roundRect">
            <a:avLst>
              <a:gd name="adj" fmla="val 9302"/>
            </a:avLst>
          </a:prstGeom>
          <a:solidFill>
            <a:srgbClr val="EEF2FA"/>
          </a:solidFill>
          <a:ln/>
        </p:spPr>
      </p:sp>
      <p:sp>
        <p:nvSpPr>
          <p:cNvPr id="17" name="Shape 12"/>
          <p:cNvSpPr/>
          <p:nvPr/>
        </p:nvSpPr>
        <p:spPr>
          <a:xfrm>
            <a:off x="822960" y="4654296"/>
            <a:ext cx="457200" cy="457200"/>
          </a:xfrm>
          <a:prstGeom prst="ellipse">
            <a:avLst/>
          </a:prstGeom>
          <a:solidFill>
            <a:srgbClr val="FFFFFF"/>
          </a:solidFill>
          <a:ln/>
        </p:spPr>
      </p:sp>
      <p:pic>
        <p:nvPicPr>
          <p:cNvPr id="18" name="Image 3" descr="/home/claude/assets/chartline_navy.png">    </p:cNvPr>
          <p:cNvPicPr>
            <a:picLocks noChangeAspect="1"/>
          </p:cNvPicPr>
          <p:nvPr/>
        </p:nvPicPr>
        <p:blipFill>
          <a:blip r:embed="rId4"/>
          <a:stretch>
            <a:fillRect/>
          </a:stretch>
        </p:blipFill>
        <p:spPr>
          <a:xfrm>
            <a:off x="932688" y="4764024"/>
            <a:ext cx="237744" cy="237744"/>
          </a:xfrm>
          <a:prstGeom prst="rect">
            <a:avLst/>
          </a:prstGeom>
        </p:spPr>
      </p:pic>
      <p:sp>
        <p:nvSpPr>
          <p:cNvPr id="19" name="Text 13"/>
          <p:cNvSpPr/>
          <p:nvPr/>
        </p:nvSpPr>
        <p:spPr>
          <a:xfrm>
            <a:off x="1463040" y="4544568"/>
            <a:ext cx="4251960" cy="676656"/>
          </a:xfrm>
          <a:prstGeom prst="rect">
            <a:avLst/>
          </a:prstGeom>
          <a:noFill/>
          <a:ln/>
        </p:spPr>
        <p:txBody>
          <a:bodyPr wrap="square" rtlCol="0" anchor="ctr"/>
          <a:lstStyle/>
          <a:p>
            <a:pPr indent="0" marL="0">
              <a:lnSpc>
                <a:spcPts val="1500"/>
              </a:lnSpc>
              <a:buNone/>
            </a:pPr>
            <a:r>
              <a:rPr lang="en-US" sz="1250" dirty="0">
                <a:solidFill>
                  <a:srgbClr val="262B40"/>
                </a:solidFill>
                <a:latin typeface="Calibri" pitchFamily="34" charset="0"/>
                <a:ea typeface="Calibri" pitchFamily="34" charset="-122"/>
                <a:cs typeface="Calibri" pitchFamily="34" charset="-120"/>
              </a:rPr>
              <a:t>Members ride consistently throughout the week.</a:t>
            </a:r>
            <a:endParaRPr lang="en-US" sz="1250" dirty="0"/>
          </a:p>
        </p:txBody>
      </p:sp>
      <p:sp>
        <p:nvSpPr>
          <p:cNvPr id="20" name="Shape 14"/>
          <p:cNvSpPr/>
          <p:nvPr/>
        </p:nvSpPr>
        <p:spPr>
          <a:xfrm>
            <a:off x="6263640" y="1691640"/>
            <a:ext cx="5257800" cy="786384"/>
          </a:xfrm>
          <a:prstGeom prst="roundRect">
            <a:avLst>
              <a:gd name="adj" fmla="val 9302"/>
            </a:avLst>
          </a:prstGeom>
          <a:solidFill>
            <a:srgbClr val="EEF2FA"/>
          </a:solidFill>
          <a:ln/>
        </p:spPr>
      </p:sp>
      <p:sp>
        <p:nvSpPr>
          <p:cNvPr id="21" name="Shape 15"/>
          <p:cNvSpPr/>
          <p:nvPr/>
        </p:nvSpPr>
        <p:spPr>
          <a:xfrm>
            <a:off x="6446520" y="1856232"/>
            <a:ext cx="457200" cy="457200"/>
          </a:xfrm>
          <a:prstGeom prst="ellipse">
            <a:avLst/>
          </a:prstGeom>
          <a:solidFill>
            <a:srgbClr val="FFFFFF"/>
          </a:solidFill>
          <a:ln/>
        </p:spPr>
      </p:sp>
      <p:pic>
        <p:nvPicPr>
          <p:cNvPr id="22" name="Image 4" descr="/home/claude/assets/sun_navy.png">    </p:cNvPr>
          <p:cNvPicPr>
            <a:picLocks noChangeAspect="1"/>
          </p:cNvPicPr>
          <p:nvPr/>
        </p:nvPicPr>
        <p:blipFill>
          <a:blip r:embed="rId5"/>
          <a:stretch>
            <a:fillRect/>
          </a:stretch>
        </p:blipFill>
        <p:spPr>
          <a:xfrm>
            <a:off x="6556248" y="1965960"/>
            <a:ext cx="237744" cy="237744"/>
          </a:xfrm>
          <a:prstGeom prst="rect">
            <a:avLst/>
          </a:prstGeom>
        </p:spPr>
      </p:pic>
      <p:sp>
        <p:nvSpPr>
          <p:cNvPr id="23" name="Text 16"/>
          <p:cNvSpPr/>
          <p:nvPr/>
        </p:nvSpPr>
        <p:spPr>
          <a:xfrm>
            <a:off x="7086600" y="1746504"/>
            <a:ext cx="4251960" cy="676656"/>
          </a:xfrm>
          <a:prstGeom prst="rect">
            <a:avLst/>
          </a:prstGeom>
          <a:noFill/>
          <a:ln/>
        </p:spPr>
        <p:txBody>
          <a:bodyPr wrap="square" rtlCol="0" anchor="ctr"/>
          <a:lstStyle/>
          <a:p>
            <a:pPr indent="0" marL="0">
              <a:lnSpc>
                <a:spcPts val="1500"/>
              </a:lnSpc>
              <a:buNone/>
            </a:pPr>
            <a:r>
              <a:rPr lang="en-US" sz="1250" dirty="0">
                <a:solidFill>
                  <a:srgbClr val="262B40"/>
                </a:solidFill>
                <a:latin typeface="Calibri" pitchFamily="34" charset="0"/>
                <a:ea typeface="Calibri" pitchFamily="34" charset="-122"/>
                <a:cs typeface="Calibri" pitchFamily="34" charset="-120"/>
              </a:rPr>
              <a:t>Summer records the highest number of rides.</a:t>
            </a:r>
            <a:endParaRPr lang="en-US" sz="1250" dirty="0"/>
          </a:p>
        </p:txBody>
      </p:sp>
      <p:sp>
        <p:nvSpPr>
          <p:cNvPr id="24" name="Shape 17"/>
          <p:cNvSpPr/>
          <p:nvPr/>
        </p:nvSpPr>
        <p:spPr>
          <a:xfrm>
            <a:off x="6263640" y="2624328"/>
            <a:ext cx="5257800" cy="786384"/>
          </a:xfrm>
          <a:prstGeom prst="roundRect">
            <a:avLst>
              <a:gd name="adj" fmla="val 9302"/>
            </a:avLst>
          </a:prstGeom>
          <a:solidFill>
            <a:srgbClr val="EEF2FA"/>
          </a:solidFill>
          <a:ln/>
        </p:spPr>
      </p:sp>
      <p:sp>
        <p:nvSpPr>
          <p:cNvPr id="25" name="Shape 18"/>
          <p:cNvSpPr/>
          <p:nvPr/>
        </p:nvSpPr>
        <p:spPr>
          <a:xfrm>
            <a:off x="6446520" y="2788920"/>
            <a:ext cx="457200" cy="457200"/>
          </a:xfrm>
          <a:prstGeom prst="ellipse">
            <a:avLst/>
          </a:prstGeom>
          <a:solidFill>
            <a:srgbClr val="FFFFFF"/>
          </a:solidFill>
          <a:ln/>
        </p:spPr>
      </p:sp>
      <p:pic>
        <p:nvPicPr>
          <p:cNvPr id="26" name="Image 5" descr="/home/claude/assets/clock_navy.png">    </p:cNvPr>
          <p:cNvPicPr>
            <a:picLocks noChangeAspect="1"/>
          </p:cNvPicPr>
          <p:nvPr/>
        </p:nvPicPr>
        <p:blipFill>
          <a:blip r:embed="rId6"/>
          <a:stretch>
            <a:fillRect/>
          </a:stretch>
        </p:blipFill>
        <p:spPr>
          <a:xfrm>
            <a:off x="6556248" y="2898648"/>
            <a:ext cx="237744" cy="237744"/>
          </a:xfrm>
          <a:prstGeom prst="rect">
            <a:avLst/>
          </a:prstGeom>
        </p:spPr>
      </p:pic>
      <p:sp>
        <p:nvSpPr>
          <p:cNvPr id="27" name="Text 19"/>
          <p:cNvSpPr/>
          <p:nvPr/>
        </p:nvSpPr>
        <p:spPr>
          <a:xfrm>
            <a:off x="7086600" y="2679192"/>
            <a:ext cx="4251960" cy="676656"/>
          </a:xfrm>
          <a:prstGeom prst="rect">
            <a:avLst/>
          </a:prstGeom>
          <a:noFill/>
          <a:ln/>
        </p:spPr>
        <p:txBody>
          <a:bodyPr wrap="square" rtlCol="0" anchor="ctr"/>
          <a:lstStyle/>
          <a:p>
            <a:pPr indent="0" marL="0">
              <a:lnSpc>
                <a:spcPts val="1500"/>
              </a:lnSpc>
              <a:buNone/>
            </a:pPr>
            <a:r>
              <a:rPr lang="en-US" sz="1250" dirty="0">
                <a:solidFill>
                  <a:srgbClr val="262B40"/>
                </a:solidFill>
                <a:latin typeface="Calibri" pitchFamily="34" charset="0"/>
                <a:ea typeface="Calibri" pitchFamily="34" charset="-122"/>
                <a:cs typeface="Calibri" pitchFamily="34" charset="-120"/>
              </a:rPr>
              <a:t>Peak riding hour is 5:00 PM.</a:t>
            </a:r>
            <a:endParaRPr lang="en-US" sz="1250" dirty="0"/>
          </a:p>
        </p:txBody>
      </p:sp>
      <p:sp>
        <p:nvSpPr>
          <p:cNvPr id="28" name="Shape 20"/>
          <p:cNvSpPr/>
          <p:nvPr/>
        </p:nvSpPr>
        <p:spPr>
          <a:xfrm>
            <a:off x="6263640" y="3557016"/>
            <a:ext cx="5257800" cy="786384"/>
          </a:xfrm>
          <a:prstGeom prst="roundRect">
            <a:avLst>
              <a:gd name="adj" fmla="val 9302"/>
            </a:avLst>
          </a:prstGeom>
          <a:solidFill>
            <a:srgbClr val="EEF2FA"/>
          </a:solidFill>
          <a:ln/>
        </p:spPr>
      </p:sp>
      <p:sp>
        <p:nvSpPr>
          <p:cNvPr id="29" name="Shape 21"/>
          <p:cNvSpPr/>
          <p:nvPr/>
        </p:nvSpPr>
        <p:spPr>
          <a:xfrm>
            <a:off x="6446520" y="3721608"/>
            <a:ext cx="457200" cy="457200"/>
          </a:xfrm>
          <a:prstGeom prst="ellipse">
            <a:avLst/>
          </a:prstGeom>
          <a:solidFill>
            <a:srgbClr val="FFFFFF"/>
          </a:solidFill>
          <a:ln/>
        </p:spPr>
      </p:sp>
      <p:pic>
        <p:nvPicPr>
          <p:cNvPr id="30" name="Image 6" descr="/home/claude/assets/bolt_navy.png">    </p:cNvPr>
          <p:cNvPicPr>
            <a:picLocks noChangeAspect="1"/>
          </p:cNvPicPr>
          <p:nvPr/>
        </p:nvPicPr>
        <p:blipFill>
          <a:blip r:embed="rId7"/>
          <a:stretch>
            <a:fillRect/>
          </a:stretch>
        </p:blipFill>
        <p:spPr>
          <a:xfrm>
            <a:off x="6556248" y="3831336"/>
            <a:ext cx="237744" cy="237744"/>
          </a:xfrm>
          <a:prstGeom prst="rect">
            <a:avLst/>
          </a:prstGeom>
        </p:spPr>
      </p:pic>
      <p:sp>
        <p:nvSpPr>
          <p:cNvPr id="31" name="Text 22"/>
          <p:cNvSpPr/>
          <p:nvPr/>
        </p:nvSpPr>
        <p:spPr>
          <a:xfrm>
            <a:off x="7086600" y="3611880"/>
            <a:ext cx="4251960" cy="676656"/>
          </a:xfrm>
          <a:prstGeom prst="rect">
            <a:avLst/>
          </a:prstGeom>
          <a:noFill/>
          <a:ln/>
        </p:spPr>
        <p:txBody>
          <a:bodyPr wrap="square" rtlCol="0" anchor="ctr"/>
          <a:lstStyle/>
          <a:p>
            <a:pPr indent="0" marL="0">
              <a:lnSpc>
                <a:spcPts val="1500"/>
              </a:lnSpc>
              <a:buNone/>
            </a:pPr>
            <a:r>
              <a:rPr lang="en-US" sz="1250" dirty="0">
                <a:solidFill>
                  <a:srgbClr val="262B40"/>
                </a:solidFill>
                <a:latin typeface="Calibri" pitchFamily="34" charset="0"/>
                <a:ea typeface="Calibri" pitchFamily="34" charset="-122"/>
                <a:cs typeface="Calibri" pitchFamily="34" charset="-120"/>
              </a:rPr>
              <a:t>Electric bikes were popular among both annual members and casual riders.</a:t>
            </a:r>
            <a:endParaRPr lang="en-US" sz="1250" dirty="0"/>
          </a:p>
        </p:txBody>
      </p:sp>
      <p:sp>
        <p:nvSpPr>
          <p:cNvPr id="32" name="Text 23"/>
          <p:cNvSpPr/>
          <p:nvPr/>
        </p:nvSpPr>
        <p:spPr>
          <a:xfrm>
            <a:off x="457200" y="6473952"/>
            <a:ext cx="5486400" cy="274320"/>
          </a:xfrm>
          <a:prstGeom prst="rect">
            <a:avLst/>
          </a:prstGeom>
          <a:noFill/>
          <a:ln/>
        </p:spPr>
        <p:txBody>
          <a:bodyPr wrap="square" rtlCol="0" anchor="ctr"/>
          <a:lstStyle/>
          <a:p>
            <a:pPr algn="l" indent="0" marL="0">
              <a:buNone/>
            </a:pPr>
            <a:r>
              <a:rPr lang="en-US" sz="900" spc="150" kern="0" dirty="0">
                <a:solidFill>
                  <a:srgbClr val="6B7280"/>
                </a:solidFill>
                <a:latin typeface="Calibri" pitchFamily="34" charset="0"/>
                <a:ea typeface="Calibri" pitchFamily="34" charset="-122"/>
                <a:cs typeface="Calibri" pitchFamily="34" charset="-120"/>
              </a:rPr>
              <a:t>CYCLISTIC BIKE SHARE ANALYSIS</a:t>
            </a:r>
            <a:endParaRPr lang="en-US" sz="900" dirty="0"/>
          </a:p>
        </p:txBody>
      </p:sp>
      <p:sp>
        <p:nvSpPr>
          <p:cNvPr id="33" name="Text 2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58368" y="256032"/>
            <a:ext cx="7315200" cy="274320"/>
          </a:xfrm>
          <a:prstGeom prst="rect">
            <a:avLst/>
          </a:prstGeom>
          <a:noFill/>
          <a:ln/>
        </p:spPr>
        <p:txBody>
          <a:bodyPr wrap="square" rtlCol="0" anchor="ctr"/>
          <a:lstStyle/>
          <a:p>
            <a:pPr indent="0" marL="0">
              <a:buNone/>
            </a:pPr>
            <a:r>
              <a:rPr lang="en-US" sz="1100" b="1" spc="200" kern="0" dirty="0">
                <a:solidFill>
                  <a:srgbClr val="F2994A"/>
                </a:solidFill>
                <a:latin typeface="Calibri" pitchFamily="34" charset="0"/>
                <a:ea typeface="Calibri" pitchFamily="34" charset="-122"/>
                <a:cs typeface="Calibri" pitchFamily="34" charset="-120"/>
              </a:rPr>
              <a:t>SECTION 10</a:t>
            </a:r>
            <a:endParaRPr lang="en-US" sz="1100" dirty="0"/>
          </a:p>
        </p:txBody>
      </p:sp>
      <p:sp>
        <p:nvSpPr>
          <p:cNvPr id="3" name="Text 1"/>
          <p:cNvSpPr/>
          <p:nvPr/>
        </p:nvSpPr>
        <p:spPr>
          <a:xfrm>
            <a:off x="640080" y="457200"/>
            <a:ext cx="10881360" cy="73152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Business Recommendations</a:t>
            </a:r>
            <a:endParaRPr lang="en-US" sz="3200" dirty="0"/>
          </a:p>
        </p:txBody>
      </p:sp>
      <p:sp>
        <p:nvSpPr>
          <p:cNvPr id="4" name="Shape 2"/>
          <p:cNvSpPr/>
          <p:nvPr/>
        </p:nvSpPr>
        <p:spPr>
          <a:xfrm>
            <a:off x="640080" y="1965960"/>
            <a:ext cx="1993392" cy="3108960"/>
          </a:xfrm>
          <a:prstGeom prst="roundRect">
            <a:avLst>
              <a:gd name="adj" fmla="val 4587"/>
            </a:avLst>
          </a:prstGeom>
          <a:solidFill>
            <a:srgbClr val="FFFFFF"/>
          </a:solidFill>
          <a:ln w="19050">
            <a:solidFill>
              <a:srgbClr val="CADCFC"/>
            </a:solidFill>
            <a:prstDash val="solid"/>
          </a:ln>
          <a:effectLst>
            <a:outerShdw sx="100000" sy="100000" kx="0" ky="0" algn="bl" rotWithShape="0" blurRad="101600" dist="38100" dir="5400000">
              <a:srgbClr val="1E2761">
                <a:alpha val="12000"/>
              </a:srgbClr>
            </a:outerShdw>
          </a:effectLst>
        </p:spPr>
      </p:sp>
      <p:sp>
        <p:nvSpPr>
          <p:cNvPr id="5" name="Shape 3"/>
          <p:cNvSpPr/>
          <p:nvPr/>
        </p:nvSpPr>
        <p:spPr>
          <a:xfrm>
            <a:off x="822960" y="2194560"/>
            <a:ext cx="502920" cy="502920"/>
          </a:xfrm>
          <a:prstGeom prst="roundRect">
            <a:avLst>
              <a:gd name="adj" fmla="val 18182"/>
            </a:avLst>
          </a:prstGeom>
          <a:solidFill>
            <a:srgbClr val="EEF2FA"/>
          </a:solidFill>
          <a:ln/>
        </p:spPr>
      </p:sp>
      <p:sp>
        <p:nvSpPr>
          <p:cNvPr id="6" name="Text 4"/>
          <p:cNvSpPr/>
          <p:nvPr/>
        </p:nvSpPr>
        <p:spPr>
          <a:xfrm>
            <a:off x="822960" y="2194560"/>
            <a:ext cx="502920" cy="502920"/>
          </a:xfrm>
          <a:prstGeom prst="rect">
            <a:avLst/>
          </a:prstGeom>
          <a:noFill/>
          <a:ln/>
        </p:spPr>
        <p:txBody>
          <a:bodyPr wrap="square" rtlCol="0" anchor="ctr"/>
          <a:lstStyle/>
          <a:p>
            <a:pPr algn="ctr" indent="0" marL="0">
              <a:buNone/>
            </a:pPr>
            <a:r>
              <a:rPr lang="en-US" sz="1700" b="1" dirty="0">
                <a:solidFill>
                  <a:srgbClr val="F2994A"/>
                </a:solidFill>
                <a:latin typeface="Cambria" pitchFamily="34" charset="0"/>
                <a:ea typeface="Cambria" pitchFamily="34" charset="-122"/>
                <a:cs typeface="Cambria" pitchFamily="34" charset="-120"/>
              </a:rPr>
              <a:t>01</a:t>
            </a:r>
            <a:endParaRPr lang="en-US" sz="1700" dirty="0"/>
          </a:p>
        </p:txBody>
      </p:sp>
      <p:sp>
        <p:nvSpPr>
          <p:cNvPr id="7" name="Text 5"/>
          <p:cNvSpPr/>
          <p:nvPr/>
        </p:nvSpPr>
        <p:spPr>
          <a:xfrm>
            <a:off x="822960" y="3657600"/>
            <a:ext cx="1627632" cy="1188720"/>
          </a:xfrm>
          <a:prstGeom prst="rect">
            <a:avLst/>
          </a:prstGeom>
          <a:noFill/>
          <a:ln/>
        </p:spPr>
        <p:txBody>
          <a:bodyPr wrap="square" rtlCol="0" anchor="b"/>
          <a:lstStyle/>
          <a:p>
            <a:pPr indent="0" marL="0">
              <a:lnSpc>
                <a:spcPts val="1700"/>
              </a:lnSpc>
              <a:buNone/>
            </a:pPr>
            <a:r>
              <a:rPr lang="en-US" sz="1350" b="1" dirty="0">
                <a:solidFill>
                  <a:srgbClr val="1E2761"/>
                </a:solidFill>
                <a:latin typeface="Calibri" pitchFamily="34" charset="0"/>
                <a:ea typeface="Calibri" pitchFamily="34" charset="-122"/>
                <a:cs typeface="Calibri" pitchFamily="34" charset="-120"/>
              </a:rPr>
              <a:t>Weekend membership</a:t>
            </a:r>
            <a:endParaRPr lang="en-US" sz="1350" dirty="0"/>
          </a:p>
          <a:p>
            <a:pPr indent="0" marL="0">
              <a:lnSpc>
                <a:spcPts val="1700"/>
              </a:lnSpc>
              <a:buNone/>
            </a:pPr>
            <a:r>
              <a:rPr lang="en-US" sz="1350" b="1" dirty="0">
                <a:solidFill>
                  <a:srgbClr val="1E2761"/>
                </a:solidFill>
                <a:latin typeface="Calibri" pitchFamily="34" charset="0"/>
                <a:ea typeface="Calibri" pitchFamily="34" charset="-122"/>
                <a:cs typeface="Calibri" pitchFamily="34" charset="-120"/>
              </a:rPr>
              <a:t>promotions</a:t>
            </a:r>
            <a:endParaRPr lang="en-US" sz="1350" dirty="0"/>
          </a:p>
        </p:txBody>
      </p:sp>
      <p:sp>
        <p:nvSpPr>
          <p:cNvPr id="8" name="Shape 6"/>
          <p:cNvSpPr/>
          <p:nvPr/>
        </p:nvSpPr>
        <p:spPr>
          <a:xfrm>
            <a:off x="2807208" y="1965960"/>
            <a:ext cx="1993392" cy="3108960"/>
          </a:xfrm>
          <a:prstGeom prst="roundRect">
            <a:avLst>
              <a:gd name="adj" fmla="val 4587"/>
            </a:avLst>
          </a:prstGeom>
          <a:solidFill>
            <a:srgbClr val="FFFFFF"/>
          </a:solidFill>
          <a:ln w="19050">
            <a:solidFill>
              <a:srgbClr val="CADCFC"/>
            </a:solidFill>
            <a:prstDash val="solid"/>
          </a:ln>
          <a:effectLst>
            <a:outerShdw sx="100000" sy="100000" kx="0" ky="0" algn="bl" rotWithShape="0" blurRad="101600" dist="38100" dir="5400000">
              <a:srgbClr val="1E2761">
                <a:alpha val="12000"/>
              </a:srgbClr>
            </a:outerShdw>
          </a:effectLst>
        </p:spPr>
      </p:sp>
      <p:sp>
        <p:nvSpPr>
          <p:cNvPr id="9" name="Shape 7"/>
          <p:cNvSpPr/>
          <p:nvPr/>
        </p:nvSpPr>
        <p:spPr>
          <a:xfrm>
            <a:off x="2990088" y="2194560"/>
            <a:ext cx="502920" cy="502920"/>
          </a:xfrm>
          <a:prstGeom prst="roundRect">
            <a:avLst>
              <a:gd name="adj" fmla="val 18182"/>
            </a:avLst>
          </a:prstGeom>
          <a:solidFill>
            <a:srgbClr val="EEF2FA"/>
          </a:solidFill>
          <a:ln/>
        </p:spPr>
      </p:sp>
      <p:sp>
        <p:nvSpPr>
          <p:cNvPr id="10" name="Text 8"/>
          <p:cNvSpPr/>
          <p:nvPr/>
        </p:nvSpPr>
        <p:spPr>
          <a:xfrm>
            <a:off x="2990088" y="2194560"/>
            <a:ext cx="502920" cy="502920"/>
          </a:xfrm>
          <a:prstGeom prst="rect">
            <a:avLst/>
          </a:prstGeom>
          <a:noFill/>
          <a:ln/>
        </p:spPr>
        <p:txBody>
          <a:bodyPr wrap="square" rtlCol="0" anchor="ctr"/>
          <a:lstStyle/>
          <a:p>
            <a:pPr algn="ctr" indent="0" marL="0">
              <a:buNone/>
            </a:pPr>
            <a:r>
              <a:rPr lang="en-US" sz="1700" b="1" dirty="0">
                <a:solidFill>
                  <a:srgbClr val="F2994A"/>
                </a:solidFill>
                <a:latin typeface="Cambria" pitchFamily="34" charset="0"/>
                <a:ea typeface="Cambria" pitchFamily="34" charset="-122"/>
                <a:cs typeface="Cambria" pitchFamily="34" charset="-120"/>
              </a:rPr>
              <a:t>02</a:t>
            </a:r>
            <a:endParaRPr lang="en-US" sz="1700" dirty="0"/>
          </a:p>
        </p:txBody>
      </p:sp>
      <p:sp>
        <p:nvSpPr>
          <p:cNvPr id="11" name="Text 9"/>
          <p:cNvSpPr/>
          <p:nvPr/>
        </p:nvSpPr>
        <p:spPr>
          <a:xfrm>
            <a:off x="2990088" y="3657600"/>
            <a:ext cx="1627632" cy="1188720"/>
          </a:xfrm>
          <a:prstGeom prst="rect">
            <a:avLst/>
          </a:prstGeom>
          <a:noFill/>
          <a:ln/>
        </p:spPr>
        <p:txBody>
          <a:bodyPr wrap="square" rtlCol="0" anchor="b"/>
          <a:lstStyle/>
          <a:p>
            <a:pPr indent="0" marL="0">
              <a:lnSpc>
                <a:spcPts val="1700"/>
              </a:lnSpc>
              <a:buNone/>
            </a:pPr>
            <a:r>
              <a:rPr lang="en-US" sz="1350" b="1" dirty="0">
                <a:solidFill>
                  <a:srgbClr val="1E2761"/>
                </a:solidFill>
                <a:latin typeface="Calibri" pitchFamily="34" charset="0"/>
                <a:ea typeface="Calibri" pitchFamily="34" charset="-122"/>
                <a:cs typeface="Calibri" pitchFamily="34" charset="-120"/>
              </a:rPr>
              <a:t>Electric bike</a:t>
            </a:r>
            <a:endParaRPr lang="en-US" sz="1350" dirty="0"/>
          </a:p>
          <a:p>
            <a:pPr indent="0" marL="0">
              <a:lnSpc>
                <a:spcPts val="1700"/>
              </a:lnSpc>
              <a:buNone/>
            </a:pPr>
            <a:r>
              <a:rPr lang="en-US" sz="1350" b="1" dirty="0">
                <a:solidFill>
                  <a:srgbClr val="1E2761"/>
                </a:solidFill>
                <a:latin typeface="Calibri" pitchFamily="34" charset="0"/>
                <a:ea typeface="Calibri" pitchFamily="34" charset="-122"/>
                <a:cs typeface="Calibri" pitchFamily="34" charset="-120"/>
              </a:rPr>
              <a:t>membership benefits</a:t>
            </a:r>
            <a:endParaRPr lang="en-US" sz="1350" dirty="0"/>
          </a:p>
        </p:txBody>
      </p:sp>
      <p:sp>
        <p:nvSpPr>
          <p:cNvPr id="12" name="Shape 10"/>
          <p:cNvSpPr/>
          <p:nvPr/>
        </p:nvSpPr>
        <p:spPr>
          <a:xfrm>
            <a:off x="4974336" y="1965960"/>
            <a:ext cx="1993392" cy="3108960"/>
          </a:xfrm>
          <a:prstGeom prst="roundRect">
            <a:avLst>
              <a:gd name="adj" fmla="val 4587"/>
            </a:avLst>
          </a:prstGeom>
          <a:solidFill>
            <a:srgbClr val="FFFFFF"/>
          </a:solidFill>
          <a:ln w="19050">
            <a:solidFill>
              <a:srgbClr val="CADCFC"/>
            </a:solidFill>
            <a:prstDash val="solid"/>
          </a:ln>
          <a:effectLst>
            <a:outerShdw sx="100000" sy="100000" kx="0" ky="0" algn="bl" rotWithShape="0" blurRad="101600" dist="38100" dir="5400000">
              <a:srgbClr val="1E2761">
                <a:alpha val="12000"/>
              </a:srgbClr>
            </a:outerShdw>
          </a:effectLst>
        </p:spPr>
      </p:sp>
      <p:sp>
        <p:nvSpPr>
          <p:cNvPr id="13" name="Shape 11"/>
          <p:cNvSpPr/>
          <p:nvPr/>
        </p:nvSpPr>
        <p:spPr>
          <a:xfrm>
            <a:off x="5157216" y="2194560"/>
            <a:ext cx="502920" cy="502920"/>
          </a:xfrm>
          <a:prstGeom prst="roundRect">
            <a:avLst>
              <a:gd name="adj" fmla="val 18182"/>
            </a:avLst>
          </a:prstGeom>
          <a:solidFill>
            <a:srgbClr val="EEF2FA"/>
          </a:solidFill>
          <a:ln/>
        </p:spPr>
      </p:sp>
      <p:sp>
        <p:nvSpPr>
          <p:cNvPr id="14" name="Text 12"/>
          <p:cNvSpPr/>
          <p:nvPr/>
        </p:nvSpPr>
        <p:spPr>
          <a:xfrm>
            <a:off x="5157216" y="2194560"/>
            <a:ext cx="502920" cy="502920"/>
          </a:xfrm>
          <a:prstGeom prst="rect">
            <a:avLst/>
          </a:prstGeom>
          <a:noFill/>
          <a:ln/>
        </p:spPr>
        <p:txBody>
          <a:bodyPr wrap="square" rtlCol="0" anchor="ctr"/>
          <a:lstStyle/>
          <a:p>
            <a:pPr algn="ctr" indent="0" marL="0">
              <a:buNone/>
            </a:pPr>
            <a:r>
              <a:rPr lang="en-US" sz="1700" b="1" dirty="0">
                <a:solidFill>
                  <a:srgbClr val="F2994A"/>
                </a:solidFill>
                <a:latin typeface="Cambria" pitchFamily="34" charset="0"/>
                <a:ea typeface="Cambria" pitchFamily="34" charset="-122"/>
                <a:cs typeface="Cambria" pitchFamily="34" charset="-120"/>
              </a:rPr>
              <a:t>03</a:t>
            </a:r>
            <a:endParaRPr lang="en-US" sz="1700" dirty="0"/>
          </a:p>
        </p:txBody>
      </p:sp>
      <p:sp>
        <p:nvSpPr>
          <p:cNvPr id="15" name="Text 13"/>
          <p:cNvSpPr/>
          <p:nvPr/>
        </p:nvSpPr>
        <p:spPr>
          <a:xfrm>
            <a:off x="5157216" y="3657600"/>
            <a:ext cx="1627632" cy="1188720"/>
          </a:xfrm>
          <a:prstGeom prst="rect">
            <a:avLst/>
          </a:prstGeom>
          <a:noFill/>
          <a:ln/>
        </p:spPr>
        <p:txBody>
          <a:bodyPr wrap="square" rtlCol="0" anchor="b"/>
          <a:lstStyle/>
          <a:p>
            <a:pPr indent="0" marL="0">
              <a:lnSpc>
                <a:spcPts val="1700"/>
              </a:lnSpc>
              <a:buNone/>
            </a:pPr>
            <a:r>
              <a:rPr lang="en-US" sz="1350" b="1" dirty="0">
                <a:solidFill>
                  <a:srgbClr val="1E2761"/>
                </a:solidFill>
                <a:latin typeface="Calibri" pitchFamily="34" charset="0"/>
                <a:ea typeface="Calibri" pitchFamily="34" charset="-122"/>
                <a:cs typeface="Calibri" pitchFamily="34" charset="-120"/>
              </a:rPr>
              <a:t>Summer marketing</a:t>
            </a:r>
            <a:endParaRPr lang="en-US" sz="1350" dirty="0"/>
          </a:p>
          <a:p>
            <a:pPr indent="0" marL="0">
              <a:lnSpc>
                <a:spcPts val="1700"/>
              </a:lnSpc>
              <a:buNone/>
            </a:pPr>
            <a:r>
              <a:rPr lang="en-US" sz="1350" b="1" dirty="0">
                <a:solidFill>
                  <a:srgbClr val="1E2761"/>
                </a:solidFill>
                <a:latin typeface="Calibri" pitchFamily="34" charset="0"/>
                <a:ea typeface="Calibri" pitchFamily="34" charset="-122"/>
                <a:cs typeface="Calibri" pitchFamily="34" charset="-120"/>
              </a:rPr>
              <a:t>campaigns</a:t>
            </a:r>
            <a:endParaRPr lang="en-US" sz="1350" dirty="0"/>
          </a:p>
        </p:txBody>
      </p:sp>
      <p:sp>
        <p:nvSpPr>
          <p:cNvPr id="16" name="Shape 14"/>
          <p:cNvSpPr/>
          <p:nvPr/>
        </p:nvSpPr>
        <p:spPr>
          <a:xfrm>
            <a:off x="7141464" y="1965960"/>
            <a:ext cx="1993392" cy="3108960"/>
          </a:xfrm>
          <a:prstGeom prst="roundRect">
            <a:avLst>
              <a:gd name="adj" fmla="val 4587"/>
            </a:avLst>
          </a:prstGeom>
          <a:solidFill>
            <a:srgbClr val="FFFFFF"/>
          </a:solidFill>
          <a:ln w="19050">
            <a:solidFill>
              <a:srgbClr val="CADCFC"/>
            </a:solidFill>
            <a:prstDash val="solid"/>
          </a:ln>
          <a:effectLst>
            <a:outerShdw sx="100000" sy="100000" kx="0" ky="0" algn="bl" rotWithShape="0" blurRad="101600" dist="38100" dir="5400000">
              <a:srgbClr val="1E2761">
                <a:alpha val="12000"/>
              </a:srgbClr>
            </a:outerShdw>
          </a:effectLst>
        </p:spPr>
      </p:sp>
      <p:sp>
        <p:nvSpPr>
          <p:cNvPr id="17" name="Shape 15"/>
          <p:cNvSpPr/>
          <p:nvPr/>
        </p:nvSpPr>
        <p:spPr>
          <a:xfrm>
            <a:off x="7324344" y="2194560"/>
            <a:ext cx="502920" cy="502920"/>
          </a:xfrm>
          <a:prstGeom prst="roundRect">
            <a:avLst>
              <a:gd name="adj" fmla="val 18182"/>
            </a:avLst>
          </a:prstGeom>
          <a:solidFill>
            <a:srgbClr val="EEF2FA"/>
          </a:solidFill>
          <a:ln/>
        </p:spPr>
      </p:sp>
      <p:sp>
        <p:nvSpPr>
          <p:cNvPr id="18" name="Text 16"/>
          <p:cNvSpPr/>
          <p:nvPr/>
        </p:nvSpPr>
        <p:spPr>
          <a:xfrm>
            <a:off x="7324344" y="2194560"/>
            <a:ext cx="502920" cy="502920"/>
          </a:xfrm>
          <a:prstGeom prst="rect">
            <a:avLst/>
          </a:prstGeom>
          <a:noFill/>
          <a:ln/>
        </p:spPr>
        <p:txBody>
          <a:bodyPr wrap="square" rtlCol="0" anchor="ctr"/>
          <a:lstStyle/>
          <a:p>
            <a:pPr algn="ctr" indent="0" marL="0">
              <a:buNone/>
            </a:pPr>
            <a:r>
              <a:rPr lang="en-US" sz="1700" b="1" dirty="0">
                <a:solidFill>
                  <a:srgbClr val="F2994A"/>
                </a:solidFill>
                <a:latin typeface="Cambria" pitchFamily="34" charset="0"/>
                <a:ea typeface="Cambria" pitchFamily="34" charset="-122"/>
                <a:cs typeface="Cambria" pitchFamily="34" charset="-120"/>
              </a:rPr>
              <a:t>04</a:t>
            </a:r>
            <a:endParaRPr lang="en-US" sz="1700" dirty="0"/>
          </a:p>
        </p:txBody>
      </p:sp>
      <p:sp>
        <p:nvSpPr>
          <p:cNvPr id="19" name="Text 17"/>
          <p:cNvSpPr/>
          <p:nvPr/>
        </p:nvSpPr>
        <p:spPr>
          <a:xfrm>
            <a:off x="7324344" y="3657600"/>
            <a:ext cx="1627632" cy="1188720"/>
          </a:xfrm>
          <a:prstGeom prst="rect">
            <a:avLst/>
          </a:prstGeom>
          <a:noFill/>
          <a:ln/>
        </p:spPr>
        <p:txBody>
          <a:bodyPr wrap="square" rtlCol="0" anchor="b"/>
          <a:lstStyle/>
          <a:p>
            <a:pPr indent="0" marL="0">
              <a:lnSpc>
                <a:spcPts val="1700"/>
              </a:lnSpc>
              <a:buNone/>
            </a:pPr>
            <a:r>
              <a:rPr lang="en-US" sz="1350" b="1" dirty="0">
                <a:solidFill>
                  <a:srgbClr val="1E2761"/>
                </a:solidFill>
                <a:latin typeface="Calibri" pitchFamily="34" charset="0"/>
                <a:ea typeface="Calibri" pitchFamily="34" charset="-122"/>
                <a:cs typeface="Calibri" pitchFamily="34" charset="-120"/>
              </a:rPr>
              <a:t>Evening benefits</a:t>
            </a:r>
            <a:endParaRPr lang="en-US" sz="1350" dirty="0"/>
          </a:p>
          <a:p>
            <a:pPr indent="0" marL="0">
              <a:lnSpc>
                <a:spcPts val="1700"/>
              </a:lnSpc>
              <a:buNone/>
            </a:pPr>
            <a:r>
              <a:rPr lang="en-US" sz="1350" b="1" dirty="0">
                <a:solidFill>
                  <a:srgbClr val="1E2761"/>
                </a:solidFill>
                <a:latin typeface="Calibri" pitchFamily="34" charset="0"/>
                <a:ea typeface="Calibri" pitchFamily="34" charset="-122"/>
                <a:cs typeface="Calibri" pitchFamily="34" charset="-120"/>
              </a:rPr>
              <a:t>promotions</a:t>
            </a:r>
            <a:endParaRPr lang="en-US" sz="1350" dirty="0"/>
          </a:p>
        </p:txBody>
      </p:sp>
      <p:sp>
        <p:nvSpPr>
          <p:cNvPr id="20" name="Shape 18"/>
          <p:cNvSpPr/>
          <p:nvPr/>
        </p:nvSpPr>
        <p:spPr>
          <a:xfrm>
            <a:off x="9308592" y="1965960"/>
            <a:ext cx="1993392" cy="3108960"/>
          </a:xfrm>
          <a:prstGeom prst="roundRect">
            <a:avLst>
              <a:gd name="adj" fmla="val 4587"/>
            </a:avLst>
          </a:prstGeom>
          <a:solidFill>
            <a:srgbClr val="FFFFFF"/>
          </a:solidFill>
          <a:ln w="19050">
            <a:solidFill>
              <a:srgbClr val="CADCFC"/>
            </a:solidFill>
            <a:prstDash val="solid"/>
          </a:ln>
          <a:effectLst>
            <a:outerShdw sx="100000" sy="100000" kx="0" ky="0" algn="bl" rotWithShape="0" blurRad="101600" dist="38100" dir="5400000">
              <a:srgbClr val="1E2761">
                <a:alpha val="12000"/>
              </a:srgbClr>
            </a:outerShdw>
          </a:effectLst>
        </p:spPr>
      </p:sp>
      <p:sp>
        <p:nvSpPr>
          <p:cNvPr id="21" name="Shape 19"/>
          <p:cNvSpPr/>
          <p:nvPr/>
        </p:nvSpPr>
        <p:spPr>
          <a:xfrm>
            <a:off x="9491472" y="2194560"/>
            <a:ext cx="502920" cy="502920"/>
          </a:xfrm>
          <a:prstGeom prst="roundRect">
            <a:avLst>
              <a:gd name="adj" fmla="val 18182"/>
            </a:avLst>
          </a:prstGeom>
          <a:solidFill>
            <a:srgbClr val="EEF2FA"/>
          </a:solidFill>
          <a:ln/>
        </p:spPr>
      </p:sp>
      <p:sp>
        <p:nvSpPr>
          <p:cNvPr id="22" name="Text 20"/>
          <p:cNvSpPr/>
          <p:nvPr/>
        </p:nvSpPr>
        <p:spPr>
          <a:xfrm>
            <a:off x="9491472" y="2194560"/>
            <a:ext cx="502920" cy="502920"/>
          </a:xfrm>
          <a:prstGeom prst="rect">
            <a:avLst/>
          </a:prstGeom>
          <a:noFill/>
          <a:ln/>
        </p:spPr>
        <p:txBody>
          <a:bodyPr wrap="square" rtlCol="0" anchor="ctr"/>
          <a:lstStyle/>
          <a:p>
            <a:pPr algn="ctr" indent="0" marL="0">
              <a:buNone/>
            </a:pPr>
            <a:r>
              <a:rPr lang="en-US" sz="1700" b="1" dirty="0">
                <a:solidFill>
                  <a:srgbClr val="F2994A"/>
                </a:solidFill>
                <a:latin typeface="Cambria" pitchFamily="34" charset="0"/>
                <a:ea typeface="Cambria" pitchFamily="34" charset="-122"/>
                <a:cs typeface="Cambria" pitchFamily="34" charset="-120"/>
              </a:rPr>
              <a:t>05</a:t>
            </a:r>
            <a:endParaRPr lang="en-US" sz="1700" dirty="0"/>
          </a:p>
        </p:txBody>
      </p:sp>
      <p:sp>
        <p:nvSpPr>
          <p:cNvPr id="23" name="Text 21"/>
          <p:cNvSpPr/>
          <p:nvPr/>
        </p:nvSpPr>
        <p:spPr>
          <a:xfrm>
            <a:off x="9491472" y="3657600"/>
            <a:ext cx="1627632" cy="1188720"/>
          </a:xfrm>
          <a:prstGeom prst="rect">
            <a:avLst/>
          </a:prstGeom>
          <a:noFill/>
          <a:ln/>
        </p:spPr>
        <p:txBody>
          <a:bodyPr wrap="square" rtlCol="0" anchor="b"/>
          <a:lstStyle/>
          <a:p>
            <a:pPr indent="0" marL="0">
              <a:lnSpc>
                <a:spcPts val="1700"/>
              </a:lnSpc>
              <a:buNone/>
            </a:pPr>
            <a:r>
              <a:rPr lang="en-US" sz="1350" b="1" dirty="0">
                <a:solidFill>
                  <a:srgbClr val="1E2761"/>
                </a:solidFill>
                <a:latin typeface="Calibri" pitchFamily="34" charset="0"/>
                <a:ea typeface="Calibri" pitchFamily="34" charset="-122"/>
                <a:cs typeface="Calibri" pitchFamily="34" charset="-120"/>
              </a:rPr>
              <a:t>Commuter</a:t>
            </a:r>
            <a:endParaRPr lang="en-US" sz="1350" dirty="0"/>
          </a:p>
          <a:p>
            <a:pPr indent="0" marL="0">
              <a:lnSpc>
                <a:spcPts val="1700"/>
              </a:lnSpc>
              <a:buNone/>
            </a:pPr>
            <a:r>
              <a:rPr lang="en-US" sz="1350" b="1" dirty="0">
                <a:solidFill>
                  <a:srgbClr val="1E2761"/>
                </a:solidFill>
                <a:latin typeface="Calibri" pitchFamily="34" charset="0"/>
                <a:ea typeface="Calibri" pitchFamily="34" charset="-122"/>
                <a:cs typeface="Calibri" pitchFamily="34" charset="-120"/>
              </a:rPr>
              <a:t>membership plans</a:t>
            </a:r>
            <a:endParaRPr lang="en-US" sz="1350" dirty="0"/>
          </a:p>
        </p:txBody>
      </p:sp>
      <p:sp>
        <p:nvSpPr>
          <p:cNvPr id="24" name="Text 22"/>
          <p:cNvSpPr/>
          <p:nvPr/>
        </p:nvSpPr>
        <p:spPr>
          <a:xfrm>
            <a:off x="457200" y="6473952"/>
            <a:ext cx="5486400" cy="274320"/>
          </a:xfrm>
          <a:prstGeom prst="rect">
            <a:avLst/>
          </a:prstGeom>
          <a:noFill/>
          <a:ln/>
        </p:spPr>
        <p:txBody>
          <a:bodyPr wrap="square" rtlCol="0" anchor="ctr"/>
          <a:lstStyle/>
          <a:p>
            <a:pPr algn="l" indent="0" marL="0">
              <a:buNone/>
            </a:pPr>
            <a:r>
              <a:rPr lang="en-US" sz="900" spc="150" kern="0" dirty="0">
                <a:solidFill>
                  <a:srgbClr val="6B7280"/>
                </a:solidFill>
                <a:latin typeface="Calibri" pitchFamily="34" charset="0"/>
                <a:ea typeface="Calibri" pitchFamily="34" charset="-122"/>
                <a:cs typeface="Calibri" pitchFamily="34" charset="-120"/>
              </a:rPr>
              <a:t>CYCLISTIC BIKE SHARE ANALYSIS</a:t>
            </a:r>
            <a:endParaRPr lang="en-US" sz="900" dirty="0"/>
          </a:p>
        </p:txBody>
      </p:sp>
      <p:sp>
        <p:nvSpPr>
          <p:cNvPr id="25" name="Text 2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58368" y="256032"/>
            <a:ext cx="7315200" cy="274320"/>
          </a:xfrm>
          <a:prstGeom prst="rect">
            <a:avLst/>
          </a:prstGeom>
          <a:noFill/>
          <a:ln/>
        </p:spPr>
        <p:txBody>
          <a:bodyPr wrap="square" rtlCol="0" anchor="ctr"/>
          <a:lstStyle/>
          <a:p>
            <a:pPr indent="0" marL="0">
              <a:buNone/>
            </a:pPr>
            <a:r>
              <a:rPr lang="en-US" sz="1100" b="1" spc="200" kern="0" dirty="0">
                <a:solidFill>
                  <a:srgbClr val="F2994A"/>
                </a:solidFill>
                <a:latin typeface="Calibri" pitchFamily="34" charset="0"/>
                <a:ea typeface="Calibri" pitchFamily="34" charset="-122"/>
                <a:cs typeface="Calibri" pitchFamily="34" charset="-120"/>
              </a:rPr>
              <a:t>SECTION 11</a:t>
            </a:r>
            <a:endParaRPr lang="en-US" sz="1100" dirty="0"/>
          </a:p>
        </p:txBody>
      </p:sp>
      <p:sp>
        <p:nvSpPr>
          <p:cNvPr id="3" name="Text 1"/>
          <p:cNvSpPr/>
          <p:nvPr/>
        </p:nvSpPr>
        <p:spPr>
          <a:xfrm>
            <a:off x="640080" y="457200"/>
            <a:ext cx="10881360" cy="73152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Expected Business Impact</a:t>
            </a:r>
            <a:endParaRPr lang="en-US" sz="3200" dirty="0"/>
          </a:p>
        </p:txBody>
      </p:sp>
      <p:sp>
        <p:nvSpPr>
          <p:cNvPr id="4" name="Shape 2"/>
          <p:cNvSpPr/>
          <p:nvPr/>
        </p:nvSpPr>
        <p:spPr>
          <a:xfrm>
            <a:off x="640080" y="2103120"/>
            <a:ext cx="3383280" cy="2651760"/>
          </a:xfrm>
          <a:prstGeom prst="roundRect">
            <a:avLst>
              <a:gd name="adj" fmla="val 3448"/>
            </a:avLst>
          </a:prstGeom>
          <a:solidFill>
            <a:srgbClr val="FFFFFF"/>
          </a:solidFill>
          <a:ln w="19050">
            <a:solidFill>
              <a:srgbClr val="CADCFC"/>
            </a:solidFill>
            <a:prstDash val="solid"/>
          </a:ln>
          <a:effectLst>
            <a:outerShdw sx="100000" sy="100000" kx="0" ky="0" algn="bl" rotWithShape="0" blurRad="101600" dist="38100" dir="5400000">
              <a:srgbClr val="1E2761">
                <a:alpha val="12000"/>
              </a:srgbClr>
            </a:outerShdw>
          </a:effectLst>
        </p:spPr>
      </p:sp>
      <p:sp>
        <p:nvSpPr>
          <p:cNvPr id="5" name="Shape 3"/>
          <p:cNvSpPr/>
          <p:nvPr/>
        </p:nvSpPr>
        <p:spPr>
          <a:xfrm>
            <a:off x="1920240" y="2468880"/>
            <a:ext cx="822960" cy="822960"/>
          </a:xfrm>
          <a:prstGeom prst="ellipse">
            <a:avLst/>
          </a:prstGeom>
          <a:solidFill>
            <a:srgbClr val="EEF2FA"/>
          </a:solidFill>
          <a:ln/>
        </p:spPr>
      </p:sp>
      <p:pic>
        <p:nvPicPr>
          <p:cNvPr id="6" name="Image 0" descr="/home/claude/assets/chartline_navy.png">    </p:cNvPr>
          <p:cNvPicPr>
            <a:picLocks noChangeAspect="1"/>
          </p:cNvPicPr>
          <p:nvPr/>
        </p:nvPicPr>
        <p:blipFill>
          <a:blip r:embed="rId1"/>
          <a:stretch>
            <a:fillRect/>
          </a:stretch>
        </p:blipFill>
        <p:spPr>
          <a:xfrm>
            <a:off x="2103120" y="2651760"/>
            <a:ext cx="457200" cy="457200"/>
          </a:xfrm>
          <a:prstGeom prst="rect">
            <a:avLst/>
          </a:prstGeom>
        </p:spPr>
      </p:pic>
      <p:sp>
        <p:nvSpPr>
          <p:cNvPr id="7" name="Text 4"/>
          <p:cNvSpPr/>
          <p:nvPr/>
        </p:nvSpPr>
        <p:spPr>
          <a:xfrm>
            <a:off x="822960" y="3520440"/>
            <a:ext cx="3017520" cy="1005840"/>
          </a:xfrm>
          <a:prstGeom prst="rect">
            <a:avLst/>
          </a:prstGeom>
          <a:noFill/>
          <a:ln/>
        </p:spPr>
        <p:txBody>
          <a:bodyPr wrap="square" rtlCol="0" anchor="ctr"/>
          <a:lstStyle/>
          <a:p>
            <a:pPr algn="ctr" indent="0" marL="0">
              <a:lnSpc>
                <a:spcPts val="1900"/>
              </a:lnSpc>
              <a:buNone/>
            </a:pPr>
            <a:r>
              <a:rPr lang="en-US" sz="1450" b="1" dirty="0">
                <a:solidFill>
                  <a:srgbClr val="1E2761"/>
                </a:solidFill>
                <a:latin typeface="Calibri" pitchFamily="34" charset="0"/>
                <a:ea typeface="Calibri" pitchFamily="34" charset="-122"/>
                <a:cs typeface="Calibri" pitchFamily="34" charset="-120"/>
              </a:rPr>
              <a:t>Increase annual</a:t>
            </a:r>
            <a:endParaRPr lang="en-US" sz="1450" dirty="0"/>
          </a:p>
          <a:p>
            <a:pPr algn="ctr" indent="0" marL="0">
              <a:lnSpc>
                <a:spcPts val="1900"/>
              </a:lnSpc>
              <a:buNone/>
            </a:pPr>
            <a:r>
              <a:rPr lang="en-US" sz="1450" b="1" dirty="0">
                <a:solidFill>
                  <a:srgbClr val="1E2761"/>
                </a:solidFill>
                <a:latin typeface="Calibri" pitchFamily="34" charset="0"/>
                <a:ea typeface="Calibri" pitchFamily="34" charset="-122"/>
                <a:cs typeface="Calibri" pitchFamily="34" charset="-120"/>
              </a:rPr>
              <a:t>memberships</a:t>
            </a:r>
            <a:endParaRPr lang="en-US" sz="1450" dirty="0"/>
          </a:p>
        </p:txBody>
      </p:sp>
      <p:sp>
        <p:nvSpPr>
          <p:cNvPr id="8" name="Shape 5"/>
          <p:cNvSpPr/>
          <p:nvPr/>
        </p:nvSpPr>
        <p:spPr>
          <a:xfrm>
            <a:off x="4389120" y="2103120"/>
            <a:ext cx="3383280" cy="2651760"/>
          </a:xfrm>
          <a:prstGeom prst="roundRect">
            <a:avLst>
              <a:gd name="adj" fmla="val 3448"/>
            </a:avLst>
          </a:prstGeom>
          <a:solidFill>
            <a:srgbClr val="FFFFFF"/>
          </a:solidFill>
          <a:ln w="19050">
            <a:solidFill>
              <a:srgbClr val="CADCFC"/>
            </a:solidFill>
            <a:prstDash val="solid"/>
          </a:ln>
          <a:effectLst>
            <a:outerShdw sx="100000" sy="100000" kx="0" ky="0" algn="bl" rotWithShape="0" blurRad="101600" dist="38100" dir="5400000">
              <a:srgbClr val="1E2761">
                <a:alpha val="12000"/>
              </a:srgbClr>
            </a:outerShdw>
          </a:effectLst>
        </p:spPr>
      </p:sp>
      <p:sp>
        <p:nvSpPr>
          <p:cNvPr id="9" name="Shape 6"/>
          <p:cNvSpPr/>
          <p:nvPr/>
        </p:nvSpPr>
        <p:spPr>
          <a:xfrm>
            <a:off x="5669280" y="2468880"/>
            <a:ext cx="822960" cy="822960"/>
          </a:xfrm>
          <a:prstGeom prst="ellipse">
            <a:avLst/>
          </a:prstGeom>
          <a:solidFill>
            <a:srgbClr val="EEF2FA"/>
          </a:solidFill>
          <a:ln/>
        </p:spPr>
      </p:sp>
      <p:pic>
        <p:nvPicPr>
          <p:cNvPr id="10" name="Image 1" descr="/home/claude/assets/handshake_navy.png">    </p:cNvPr>
          <p:cNvPicPr>
            <a:picLocks noChangeAspect="1"/>
          </p:cNvPicPr>
          <p:nvPr/>
        </p:nvPicPr>
        <p:blipFill>
          <a:blip r:embed="rId2"/>
          <a:stretch>
            <a:fillRect/>
          </a:stretch>
        </p:blipFill>
        <p:spPr>
          <a:xfrm>
            <a:off x="5852160" y="2651760"/>
            <a:ext cx="457200" cy="457200"/>
          </a:xfrm>
          <a:prstGeom prst="rect">
            <a:avLst/>
          </a:prstGeom>
        </p:spPr>
      </p:pic>
      <p:sp>
        <p:nvSpPr>
          <p:cNvPr id="11" name="Text 7"/>
          <p:cNvSpPr/>
          <p:nvPr/>
        </p:nvSpPr>
        <p:spPr>
          <a:xfrm>
            <a:off x="4572000" y="3520440"/>
            <a:ext cx="3017520" cy="1005840"/>
          </a:xfrm>
          <a:prstGeom prst="rect">
            <a:avLst/>
          </a:prstGeom>
          <a:noFill/>
          <a:ln/>
        </p:spPr>
        <p:txBody>
          <a:bodyPr wrap="square" rtlCol="0" anchor="ctr"/>
          <a:lstStyle/>
          <a:p>
            <a:pPr algn="ctr" indent="0" marL="0">
              <a:lnSpc>
                <a:spcPts val="1900"/>
              </a:lnSpc>
              <a:buNone/>
            </a:pPr>
            <a:r>
              <a:rPr lang="en-US" sz="1450" b="1" dirty="0">
                <a:solidFill>
                  <a:srgbClr val="1E2761"/>
                </a:solidFill>
                <a:latin typeface="Calibri" pitchFamily="34" charset="0"/>
                <a:ea typeface="Calibri" pitchFamily="34" charset="-122"/>
                <a:cs typeface="Calibri" pitchFamily="34" charset="-120"/>
              </a:rPr>
              <a:t>Improve customer</a:t>
            </a:r>
            <a:endParaRPr lang="en-US" sz="1450" dirty="0"/>
          </a:p>
          <a:p>
            <a:pPr algn="ctr" indent="0" marL="0">
              <a:lnSpc>
                <a:spcPts val="1900"/>
              </a:lnSpc>
              <a:buNone/>
            </a:pPr>
            <a:r>
              <a:rPr lang="en-US" sz="1450" b="1" dirty="0">
                <a:solidFill>
                  <a:srgbClr val="1E2761"/>
                </a:solidFill>
                <a:latin typeface="Calibri" pitchFamily="34" charset="0"/>
                <a:ea typeface="Calibri" pitchFamily="34" charset="-122"/>
                <a:cs typeface="Calibri" pitchFamily="34" charset="-120"/>
              </a:rPr>
              <a:t>retention</a:t>
            </a:r>
            <a:endParaRPr lang="en-US" sz="1450" dirty="0"/>
          </a:p>
        </p:txBody>
      </p:sp>
      <p:sp>
        <p:nvSpPr>
          <p:cNvPr id="12" name="Shape 8"/>
          <p:cNvSpPr/>
          <p:nvPr/>
        </p:nvSpPr>
        <p:spPr>
          <a:xfrm>
            <a:off x="8138160" y="2103120"/>
            <a:ext cx="3383280" cy="2651760"/>
          </a:xfrm>
          <a:prstGeom prst="roundRect">
            <a:avLst>
              <a:gd name="adj" fmla="val 3448"/>
            </a:avLst>
          </a:prstGeom>
          <a:solidFill>
            <a:srgbClr val="FFFFFF"/>
          </a:solidFill>
          <a:ln w="19050">
            <a:solidFill>
              <a:srgbClr val="CADCFC"/>
            </a:solidFill>
            <a:prstDash val="solid"/>
          </a:ln>
          <a:effectLst>
            <a:outerShdw sx="100000" sy="100000" kx="0" ky="0" algn="bl" rotWithShape="0" blurRad="101600" dist="38100" dir="5400000">
              <a:srgbClr val="1E2761">
                <a:alpha val="12000"/>
              </a:srgbClr>
            </a:outerShdw>
          </a:effectLst>
        </p:spPr>
      </p:sp>
      <p:sp>
        <p:nvSpPr>
          <p:cNvPr id="13" name="Shape 9"/>
          <p:cNvSpPr/>
          <p:nvPr/>
        </p:nvSpPr>
        <p:spPr>
          <a:xfrm>
            <a:off x="9418320" y="2468880"/>
            <a:ext cx="822960" cy="822960"/>
          </a:xfrm>
          <a:prstGeom prst="ellipse">
            <a:avLst/>
          </a:prstGeom>
          <a:solidFill>
            <a:srgbClr val="EEF2FA"/>
          </a:solidFill>
          <a:ln/>
        </p:spPr>
      </p:sp>
      <p:pic>
        <p:nvPicPr>
          <p:cNvPr id="14" name="Image 2" descr="/home/claude/assets/bulb_navy.png">    </p:cNvPr>
          <p:cNvPicPr>
            <a:picLocks noChangeAspect="1"/>
          </p:cNvPicPr>
          <p:nvPr/>
        </p:nvPicPr>
        <p:blipFill>
          <a:blip r:embed="rId3"/>
          <a:stretch>
            <a:fillRect/>
          </a:stretch>
        </p:blipFill>
        <p:spPr>
          <a:xfrm>
            <a:off x="9601200" y="2651760"/>
            <a:ext cx="457200" cy="457200"/>
          </a:xfrm>
          <a:prstGeom prst="rect">
            <a:avLst/>
          </a:prstGeom>
        </p:spPr>
      </p:pic>
      <p:sp>
        <p:nvSpPr>
          <p:cNvPr id="15" name="Text 10"/>
          <p:cNvSpPr/>
          <p:nvPr/>
        </p:nvSpPr>
        <p:spPr>
          <a:xfrm>
            <a:off x="8321040" y="3520440"/>
            <a:ext cx="3017520" cy="1005840"/>
          </a:xfrm>
          <a:prstGeom prst="rect">
            <a:avLst/>
          </a:prstGeom>
          <a:noFill/>
          <a:ln/>
        </p:spPr>
        <p:txBody>
          <a:bodyPr wrap="square" rtlCol="0" anchor="ctr"/>
          <a:lstStyle/>
          <a:p>
            <a:pPr algn="ctr" indent="0" marL="0">
              <a:lnSpc>
                <a:spcPts val="1900"/>
              </a:lnSpc>
              <a:buNone/>
            </a:pPr>
            <a:r>
              <a:rPr lang="en-US" sz="1450" b="1" dirty="0">
                <a:solidFill>
                  <a:srgbClr val="1E2761"/>
                </a:solidFill>
                <a:latin typeface="Calibri" pitchFamily="34" charset="0"/>
                <a:ea typeface="Calibri" pitchFamily="34" charset="-122"/>
                <a:cs typeface="Calibri" pitchFamily="34" charset="-120"/>
              </a:rPr>
              <a:t>Enable data-driven</a:t>
            </a:r>
            <a:endParaRPr lang="en-US" sz="1450" dirty="0"/>
          </a:p>
          <a:p>
            <a:pPr algn="ctr" indent="0" marL="0">
              <a:lnSpc>
                <a:spcPts val="1900"/>
              </a:lnSpc>
              <a:buNone/>
            </a:pPr>
            <a:r>
              <a:rPr lang="en-US" sz="1450" b="1" dirty="0">
                <a:solidFill>
                  <a:srgbClr val="1E2761"/>
                </a:solidFill>
                <a:latin typeface="Calibri" pitchFamily="34" charset="0"/>
                <a:ea typeface="Calibri" pitchFamily="34" charset="-122"/>
                <a:cs typeface="Calibri" pitchFamily="34" charset="-120"/>
              </a:rPr>
              <a:t>marketing decisions</a:t>
            </a:r>
            <a:endParaRPr lang="en-US" sz="1450" dirty="0"/>
          </a:p>
        </p:txBody>
      </p:sp>
      <p:sp>
        <p:nvSpPr>
          <p:cNvPr id="16" name="Text 11"/>
          <p:cNvSpPr/>
          <p:nvPr/>
        </p:nvSpPr>
        <p:spPr>
          <a:xfrm>
            <a:off x="457200" y="6473952"/>
            <a:ext cx="5486400" cy="274320"/>
          </a:xfrm>
          <a:prstGeom prst="rect">
            <a:avLst/>
          </a:prstGeom>
          <a:noFill/>
          <a:ln/>
        </p:spPr>
        <p:txBody>
          <a:bodyPr wrap="square" rtlCol="0" anchor="ctr"/>
          <a:lstStyle/>
          <a:p>
            <a:pPr algn="l" indent="0" marL="0">
              <a:buNone/>
            </a:pPr>
            <a:r>
              <a:rPr lang="en-US" sz="900" spc="150" kern="0" dirty="0">
                <a:solidFill>
                  <a:srgbClr val="6B7280"/>
                </a:solidFill>
                <a:latin typeface="Calibri" pitchFamily="34" charset="0"/>
                <a:ea typeface="Calibri" pitchFamily="34" charset="-122"/>
                <a:cs typeface="Calibri" pitchFamily="34" charset="-120"/>
              </a:rPr>
              <a:t>CYCLISTIC BIKE SHARE ANALYSIS</a:t>
            </a:r>
            <a:endParaRPr lang="en-US" sz="900" dirty="0"/>
          </a:p>
        </p:txBody>
      </p:sp>
      <p:sp>
        <p:nvSpPr>
          <p:cNvPr id="17" name="Text 1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58368" y="256032"/>
            <a:ext cx="7315200" cy="274320"/>
          </a:xfrm>
          <a:prstGeom prst="rect">
            <a:avLst/>
          </a:prstGeom>
          <a:noFill/>
          <a:ln/>
        </p:spPr>
        <p:txBody>
          <a:bodyPr wrap="square" rtlCol="0" anchor="ctr"/>
          <a:lstStyle/>
          <a:p>
            <a:pPr indent="0" marL="0">
              <a:buNone/>
            </a:pPr>
            <a:r>
              <a:rPr lang="en-US" sz="1100" b="1" spc="200" kern="0" dirty="0">
                <a:solidFill>
                  <a:srgbClr val="F2994A"/>
                </a:solidFill>
                <a:latin typeface="Calibri" pitchFamily="34" charset="0"/>
                <a:ea typeface="Calibri" pitchFamily="34" charset="-122"/>
                <a:cs typeface="Calibri" pitchFamily="34" charset="-120"/>
              </a:rPr>
              <a:t>SECTION 12</a:t>
            </a:r>
            <a:endParaRPr lang="en-US" sz="1100" dirty="0"/>
          </a:p>
        </p:txBody>
      </p:sp>
      <p:sp>
        <p:nvSpPr>
          <p:cNvPr id="3" name="Text 1"/>
          <p:cNvSpPr/>
          <p:nvPr/>
        </p:nvSpPr>
        <p:spPr>
          <a:xfrm>
            <a:off x="640080" y="457200"/>
            <a:ext cx="10881360" cy="73152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Skills Demonstrated</a:t>
            </a:r>
            <a:endParaRPr lang="en-US" sz="3200" dirty="0"/>
          </a:p>
        </p:txBody>
      </p:sp>
      <p:sp>
        <p:nvSpPr>
          <p:cNvPr id="4" name="Shape 2"/>
          <p:cNvSpPr/>
          <p:nvPr/>
        </p:nvSpPr>
        <p:spPr>
          <a:xfrm>
            <a:off x="640080" y="1920240"/>
            <a:ext cx="2587752" cy="960120"/>
          </a:xfrm>
          <a:prstGeom prst="roundRect">
            <a:avLst>
              <a:gd name="adj" fmla="val 7619"/>
            </a:avLst>
          </a:prstGeom>
          <a:solidFill>
            <a:srgbClr val="EEF2FA"/>
          </a:solidFill>
          <a:ln w="19050">
            <a:solidFill>
              <a:srgbClr val="CADCFC"/>
            </a:solidFill>
            <a:prstDash val="solid"/>
          </a:ln>
        </p:spPr>
      </p:sp>
      <p:sp>
        <p:nvSpPr>
          <p:cNvPr id="5" name="Text 3"/>
          <p:cNvSpPr/>
          <p:nvPr/>
        </p:nvSpPr>
        <p:spPr>
          <a:xfrm>
            <a:off x="841248" y="1920240"/>
            <a:ext cx="2221992" cy="960120"/>
          </a:xfrm>
          <a:prstGeom prst="rect">
            <a:avLst/>
          </a:prstGeom>
          <a:noFill/>
          <a:ln/>
        </p:spPr>
        <p:txBody>
          <a:bodyPr wrap="square" rtlCol="0" anchor="ctr"/>
          <a:lstStyle/>
          <a:p>
            <a:pPr indent="0" marL="0">
              <a:lnSpc>
                <a:spcPts val="1600"/>
              </a:lnSpc>
              <a:buNone/>
            </a:pPr>
            <a:r>
              <a:rPr lang="en-US" sz="1350" b="1" dirty="0">
                <a:solidFill>
                  <a:srgbClr val="1E2761"/>
                </a:solidFill>
                <a:latin typeface="Calibri" pitchFamily="34" charset="0"/>
                <a:ea typeface="Calibri" pitchFamily="34" charset="-122"/>
                <a:cs typeface="Calibri" pitchFamily="34" charset="-120"/>
              </a:rPr>
              <a:t>Data Cleaning</a:t>
            </a:r>
            <a:endParaRPr lang="en-US" sz="1350" dirty="0"/>
          </a:p>
        </p:txBody>
      </p:sp>
      <p:sp>
        <p:nvSpPr>
          <p:cNvPr id="6" name="Shape 4"/>
          <p:cNvSpPr/>
          <p:nvPr/>
        </p:nvSpPr>
        <p:spPr>
          <a:xfrm>
            <a:off x="3410712" y="1920240"/>
            <a:ext cx="2587752" cy="960120"/>
          </a:xfrm>
          <a:prstGeom prst="roundRect">
            <a:avLst>
              <a:gd name="adj" fmla="val 7619"/>
            </a:avLst>
          </a:prstGeom>
          <a:solidFill>
            <a:srgbClr val="EEF2FA"/>
          </a:solidFill>
          <a:ln w="19050">
            <a:solidFill>
              <a:srgbClr val="CADCFC"/>
            </a:solidFill>
            <a:prstDash val="solid"/>
          </a:ln>
        </p:spPr>
      </p:sp>
      <p:sp>
        <p:nvSpPr>
          <p:cNvPr id="7" name="Text 5"/>
          <p:cNvSpPr/>
          <p:nvPr/>
        </p:nvSpPr>
        <p:spPr>
          <a:xfrm>
            <a:off x="3611880" y="1920240"/>
            <a:ext cx="2221992" cy="960120"/>
          </a:xfrm>
          <a:prstGeom prst="rect">
            <a:avLst/>
          </a:prstGeom>
          <a:noFill/>
          <a:ln/>
        </p:spPr>
        <p:txBody>
          <a:bodyPr wrap="square" rtlCol="0" anchor="ctr"/>
          <a:lstStyle/>
          <a:p>
            <a:pPr indent="0" marL="0">
              <a:lnSpc>
                <a:spcPts val="1600"/>
              </a:lnSpc>
              <a:buNone/>
            </a:pPr>
            <a:r>
              <a:rPr lang="en-US" sz="1350" b="1" dirty="0">
                <a:solidFill>
                  <a:srgbClr val="1E2761"/>
                </a:solidFill>
                <a:latin typeface="Calibri" pitchFamily="34" charset="0"/>
                <a:ea typeface="Calibri" pitchFamily="34" charset="-122"/>
                <a:cs typeface="Calibri" pitchFamily="34" charset="-120"/>
              </a:rPr>
              <a:t>Data Transformation</a:t>
            </a:r>
            <a:endParaRPr lang="en-US" sz="1350" dirty="0"/>
          </a:p>
        </p:txBody>
      </p:sp>
      <p:sp>
        <p:nvSpPr>
          <p:cNvPr id="8" name="Shape 6"/>
          <p:cNvSpPr/>
          <p:nvPr/>
        </p:nvSpPr>
        <p:spPr>
          <a:xfrm>
            <a:off x="6181344" y="1920240"/>
            <a:ext cx="2587752" cy="960120"/>
          </a:xfrm>
          <a:prstGeom prst="roundRect">
            <a:avLst>
              <a:gd name="adj" fmla="val 7619"/>
            </a:avLst>
          </a:prstGeom>
          <a:solidFill>
            <a:srgbClr val="EEF2FA"/>
          </a:solidFill>
          <a:ln w="19050">
            <a:solidFill>
              <a:srgbClr val="CADCFC"/>
            </a:solidFill>
            <a:prstDash val="solid"/>
          </a:ln>
        </p:spPr>
      </p:sp>
      <p:sp>
        <p:nvSpPr>
          <p:cNvPr id="9" name="Text 7"/>
          <p:cNvSpPr/>
          <p:nvPr/>
        </p:nvSpPr>
        <p:spPr>
          <a:xfrm>
            <a:off x="6382512" y="1920240"/>
            <a:ext cx="2221992" cy="960120"/>
          </a:xfrm>
          <a:prstGeom prst="rect">
            <a:avLst/>
          </a:prstGeom>
          <a:noFill/>
          <a:ln/>
        </p:spPr>
        <p:txBody>
          <a:bodyPr wrap="square" rtlCol="0" anchor="ctr"/>
          <a:lstStyle/>
          <a:p>
            <a:pPr indent="0" marL="0">
              <a:lnSpc>
                <a:spcPts val="1600"/>
              </a:lnSpc>
              <a:buNone/>
            </a:pPr>
            <a:r>
              <a:rPr lang="en-US" sz="1350" b="1" dirty="0">
                <a:solidFill>
                  <a:srgbClr val="1E2761"/>
                </a:solidFill>
                <a:latin typeface="Calibri" pitchFamily="34" charset="0"/>
                <a:ea typeface="Calibri" pitchFamily="34" charset="-122"/>
                <a:cs typeface="Calibri" pitchFamily="34" charset="-120"/>
              </a:rPr>
              <a:t>Data Analysis</a:t>
            </a:r>
            <a:endParaRPr lang="en-US" sz="1350" dirty="0"/>
          </a:p>
        </p:txBody>
      </p:sp>
      <p:sp>
        <p:nvSpPr>
          <p:cNvPr id="10" name="Shape 8"/>
          <p:cNvSpPr/>
          <p:nvPr/>
        </p:nvSpPr>
        <p:spPr>
          <a:xfrm>
            <a:off x="8951976" y="1920240"/>
            <a:ext cx="2587752" cy="960120"/>
          </a:xfrm>
          <a:prstGeom prst="roundRect">
            <a:avLst>
              <a:gd name="adj" fmla="val 7619"/>
            </a:avLst>
          </a:prstGeom>
          <a:solidFill>
            <a:srgbClr val="EEF2FA"/>
          </a:solidFill>
          <a:ln w="19050">
            <a:solidFill>
              <a:srgbClr val="CADCFC"/>
            </a:solidFill>
            <a:prstDash val="solid"/>
          </a:ln>
        </p:spPr>
      </p:sp>
      <p:sp>
        <p:nvSpPr>
          <p:cNvPr id="11" name="Text 9"/>
          <p:cNvSpPr/>
          <p:nvPr/>
        </p:nvSpPr>
        <p:spPr>
          <a:xfrm>
            <a:off x="9153144" y="1920240"/>
            <a:ext cx="2221992" cy="960120"/>
          </a:xfrm>
          <a:prstGeom prst="rect">
            <a:avLst/>
          </a:prstGeom>
          <a:noFill/>
          <a:ln/>
        </p:spPr>
        <p:txBody>
          <a:bodyPr wrap="square" rtlCol="0" anchor="ctr"/>
          <a:lstStyle/>
          <a:p>
            <a:pPr indent="0" marL="0">
              <a:lnSpc>
                <a:spcPts val="1600"/>
              </a:lnSpc>
              <a:buNone/>
            </a:pPr>
            <a:r>
              <a:rPr lang="en-US" sz="1350" b="1" dirty="0">
                <a:solidFill>
                  <a:srgbClr val="1E2761"/>
                </a:solidFill>
                <a:latin typeface="Calibri" pitchFamily="34" charset="0"/>
                <a:ea typeface="Calibri" pitchFamily="34" charset="-122"/>
                <a:cs typeface="Calibri" pitchFamily="34" charset="-120"/>
              </a:rPr>
              <a:t>Data Visualization</a:t>
            </a:r>
            <a:endParaRPr lang="en-US" sz="1350" dirty="0"/>
          </a:p>
        </p:txBody>
      </p:sp>
      <p:sp>
        <p:nvSpPr>
          <p:cNvPr id="12" name="Shape 10"/>
          <p:cNvSpPr/>
          <p:nvPr/>
        </p:nvSpPr>
        <p:spPr>
          <a:xfrm>
            <a:off x="640080" y="3108960"/>
            <a:ext cx="2587752" cy="960120"/>
          </a:xfrm>
          <a:prstGeom prst="roundRect">
            <a:avLst>
              <a:gd name="adj" fmla="val 7619"/>
            </a:avLst>
          </a:prstGeom>
          <a:solidFill>
            <a:srgbClr val="EEF2FA"/>
          </a:solidFill>
          <a:ln w="19050">
            <a:solidFill>
              <a:srgbClr val="CADCFC"/>
            </a:solidFill>
            <a:prstDash val="solid"/>
          </a:ln>
        </p:spPr>
      </p:sp>
      <p:sp>
        <p:nvSpPr>
          <p:cNvPr id="13" name="Text 11"/>
          <p:cNvSpPr/>
          <p:nvPr/>
        </p:nvSpPr>
        <p:spPr>
          <a:xfrm>
            <a:off x="841248" y="3108960"/>
            <a:ext cx="2221992" cy="960120"/>
          </a:xfrm>
          <a:prstGeom prst="rect">
            <a:avLst/>
          </a:prstGeom>
          <a:noFill/>
          <a:ln/>
        </p:spPr>
        <p:txBody>
          <a:bodyPr wrap="square" rtlCol="0" anchor="ctr"/>
          <a:lstStyle/>
          <a:p>
            <a:pPr indent="0" marL="0">
              <a:lnSpc>
                <a:spcPts val="1600"/>
              </a:lnSpc>
              <a:buNone/>
            </a:pPr>
            <a:r>
              <a:rPr lang="en-US" sz="1350" b="1" dirty="0">
                <a:solidFill>
                  <a:srgbClr val="1E2761"/>
                </a:solidFill>
                <a:latin typeface="Calibri" pitchFamily="34" charset="0"/>
                <a:ea typeface="Calibri" pitchFamily="34" charset="-122"/>
                <a:cs typeface="Calibri" pitchFamily="34" charset="-120"/>
              </a:rPr>
              <a:t>Business Intelligence</a:t>
            </a:r>
            <a:endParaRPr lang="en-US" sz="1350" dirty="0"/>
          </a:p>
        </p:txBody>
      </p:sp>
      <p:sp>
        <p:nvSpPr>
          <p:cNvPr id="14" name="Shape 12"/>
          <p:cNvSpPr/>
          <p:nvPr/>
        </p:nvSpPr>
        <p:spPr>
          <a:xfrm>
            <a:off x="3410712" y="3108960"/>
            <a:ext cx="2587752" cy="960120"/>
          </a:xfrm>
          <a:prstGeom prst="roundRect">
            <a:avLst>
              <a:gd name="adj" fmla="val 7619"/>
            </a:avLst>
          </a:prstGeom>
          <a:solidFill>
            <a:srgbClr val="EEF2FA"/>
          </a:solidFill>
          <a:ln w="19050">
            <a:solidFill>
              <a:srgbClr val="CADCFC"/>
            </a:solidFill>
            <a:prstDash val="solid"/>
          </a:ln>
        </p:spPr>
      </p:sp>
      <p:sp>
        <p:nvSpPr>
          <p:cNvPr id="15" name="Text 13"/>
          <p:cNvSpPr/>
          <p:nvPr/>
        </p:nvSpPr>
        <p:spPr>
          <a:xfrm>
            <a:off x="3611880" y="3108960"/>
            <a:ext cx="2221992" cy="960120"/>
          </a:xfrm>
          <a:prstGeom prst="rect">
            <a:avLst/>
          </a:prstGeom>
          <a:noFill/>
          <a:ln/>
        </p:spPr>
        <p:txBody>
          <a:bodyPr wrap="square" rtlCol="0" anchor="ctr"/>
          <a:lstStyle/>
          <a:p>
            <a:pPr indent="0" marL="0">
              <a:lnSpc>
                <a:spcPts val="1600"/>
              </a:lnSpc>
              <a:buNone/>
            </a:pPr>
            <a:r>
              <a:rPr lang="en-US" sz="1350" b="1" dirty="0">
                <a:solidFill>
                  <a:srgbClr val="1E2761"/>
                </a:solidFill>
                <a:latin typeface="Calibri" pitchFamily="34" charset="0"/>
                <a:ea typeface="Calibri" pitchFamily="34" charset="-122"/>
                <a:cs typeface="Calibri" pitchFamily="34" charset="-120"/>
              </a:rPr>
              <a:t>Data Storytelling</a:t>
            </a:r>
            <a:endParaRPr lang="en-US" sz="1350" dirty="0"/>
          </a:p>
        </p:txBody>
      </p:sp>
      <p:sp>
        <p:nvSpPr>
          <p:cNvPr id="16" name="Shape 14"/>
          <p:cNvSpPr/>
          <p:nvPr/>
        </p:nvSpPr>
        <p:spPr>
          <a:xfrm>
            <a:off x="6181344" y="3108960"/>
            <a:ext cx="2587752" cy="960120"/>
          </a:xfrm>
          <a:prstGeom prst="roundRect">
            <a:avLst>
              <a:gd name="adj" fmla="val 7619"/>
            </a:avLst>
          </a:prstGeom>
          <a:solidFill>
            <a:srgbClr val="EEF2FA"/>
          </a:solidFill>
          <a:ln w="19050">
            <a:solidFill>
              <a:srgbClr val="CADCFC"/>
            </a:solidFill>
            <a:prstDash val="solid"/>
          </a:ln>
        </p:spPr>
      </p:sp>
      <p:sp>
        <p:nvSpPr>
          <p:cNvPr id="17" name="Text 15"/>
          <p:cNvSpPr/>
          <p:nvPr/>
        </p:nvSpPr>
        <p:spPr>
          <a:xfrm>
            <a:off x="6382512" y="3108960"/>
            <a:ext cx="2221992" cy="960120"/>
          </a:xfrm>
          <a:prstGeom prst="rect">
            <a:avLst/>
          </a:prstGeom>
          <a:noFill/>
          <a:ln/>
        </p:spPr>
        <p:txBody>
          <a:bodyPr wrap="square" rtlCol="0" anchor="ctr"/>
          <a:lstStyle/>
          <a:p>
            <a:pPr indent="0" marL="0">
              <a:lnSpc>
                <a:spcPts val="1600"/>
              </a:lnSpc>
              <a:buNone/>
            </a:pPr>
            <a:r>
              <a:rPr lang="en-US" sz="1350" b="1" dirty="0">
                <a:solidFill>
                  <a:srgbClr val="1E2761"/>
                </a:solidFill>
                <a:latin typeface="Calibri" pitchFamily="34" charset="0"/>
                <a:ea typeface="Calibri" pitchFamily="34" charset="-122"/>
                <a:cs typeface="Calibri" pitchFamily="34" charset="-120"/>
              </a:rPr>
              <a:t>Tableau Dashboard Development</a:t>
            </a:r>
            <a:endParaRPr lang="en-US" sz="1350" dirty="0"/>
          </a:p>
        </p:txBody>
      </p:sp>
      <p:sp>
        <p:nvSpPr>
          <p:cNvPr id="18" name="Shape 16"/>
          <p:cNvSpPr/>
          <p:nvPr/>
        </p:nvSpPr>
        <p:spPr>
          <a:xfrm>
            <a:off x="8951976" y="3108960"/>
            <a:ext cx="2587752" cy="960120"/>
          </a:xfrm>
          <a:prstGeom prst="roundRect">
            <a:avLst>
              <a:gd name="adj" fmla="val 7619"/>
            </a:avLst>
          </a:prstGeom>
          <a:solidFill>
            <a:srgbClr val="EEF2FA"/>
          </a:solidFill>
          <a:ln w="19050">
            <a:solidFill>
              <a:srgbClr val="CADCFC"/>
            </a:solidFill>
            <a:prstDash val="solid"/>
          </a:ln>
        </p:spPr>
      </p:sp>
      <p:sp>
        <p:nvSpPr>
          <p:cNvPr id="19" name="Text 17"/>
          <p:cNvSpPr/>
          <p:nvPr/>
        </p:nvSpPr>
        <p:spPr>
          <a:xfrm>
            <a:off x="9153144" y="3108960"/>
            <a:ext cx="2221992" cy="960120"/>
          </a:xfrm>
          <a:prstGeom prst="rect">
            <a:avLst/>
          </a:prstGeom>
          <a:noFill/>
          <a:ln/>
        </p:spPr>
        <p:txBody>
          <a:bodyPr wrap="square" rtlCol="0" anchor="ctr"/>
          <a:lstStyle/>
          <a:p>
            <a:pPr indent="0" marL="0">
              <a:lnSpc>
                <a:spcPts val="1600"/>
              </a:lnSpc>
              <a:buNone/>
            </a:pPr>
            <a:r>
              <a:rPr lang="en-US" sz="1350" b="1" dirty="0">
                <a:solidFill>
                  <a:srgbClr val="1E2761"/>
                </a:solidFill>
                <a:latin typeface="Calibri" pitchFamily="34" charset="0"/>
                <a:ea typeface="Calibri" pitchFamily="34" charset="-122"/>
                <a:cs typeface="Calibri" pitchFamily="34" charset="-120"/>
              </a:rPr>
              <a:t>R Programming</a:t>
            </a:r>
            <a:endParaRPr lang="en-US" sz="1350" dirty="0"/>
          </a:p>
        </p:txBody>
      </p:sp>
      <p:sp>
        <p:nvSpPr>
          <p:cNvPr id="20" name="Text 18"/>
          <p:cNvSpPr/>
          <p:nvPr/>
        </p:nvSpPr>
        <p:spPr>
          <a:xfrm>
            <a:off x="457200" y="6473952"/>
            <a:ext cx="5486400" cy="274320"/>
          </a:xfrm>
          <a:prstGeom prst="rect">
            <a:avLst/>
          </a:prstGeom>
          <a:noFill/>
          <a:ln/>
        </p:spPr>
        <p:txBody>
          <a:bodyPr wrap="square" rtlCol="0" anchor="ctr"/>
          <a:lstStyle/>
          <a:p>
            <a:pPr algn="l" indent="0" marL="0">
              <a:buNone/>
            </a:pPr>
            <a:r>
              <a:rPr lang="en-US" sz="900" spc="150" kern="0" dirty="0">
                <a:solidFill>
                  <a:srgbClr val="6B7280"/>
                </a:solidFill>
                <a:latin typeface="Calibri" pitchFamily="34" charset="0"/>
                <a:ea typeface="Calibri" pitchFamily="34" charset="-122"/>
                <a:cs typeface="Calibri" pitchFamily="34" charset="-120"/>
              </a:rPr>
              <a:t>CYCLISTIC BIKE SHARE ANALYSIS</a:t>
            </a:r>
            <a:endParaRPr lang="en-US" sz="900" dirty="0"/>
          </a:p>
        </p:txBody>
      </p:sp>
      <p:sp>
        <p:nvSpPr>
          <p:cNvPr id="21" name="Text 1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58368" y="256032"/>
            <a:ext cx="7315200" cy="274320"/>
          </a:xfrm>
          <a:prstGeom prst="rect">
            <a:avLst/>
          </a:prstGeom>
          <a:noFill/>
          <a:ln/>
        </p:spPr>
        <p:txBody>
          <a:bodyPr wrap="square" rtlCol="0" anchor="ctr"/>
          <a:lstStyle/>
          <a:p>
            <a:pPr indent="0" marL="0">
              <a:buNone/>
            </a:pPr>
            <a:r>
              <a:rPr lang="en-US" sz="1100" b="1" spc="200" kern="0" dirty="0">
                <a:solidFill>
                  <a:srgbClr val="F2994A"/>
                </a:solidFill>
                <a:latin typeface="Calibri" pitchFamily="34" charset="0"/>
                <a:ea typeface="Calibri" pitchFamily="34" charset="-122"/>
                <a:cs typeface="Calibri" pitchFamily="34" charset="-120"/>
              </a:rPr>
              <a:t>SECTION 13</a:t>
            </a:r>
            <a:endParaRPr lang="en-US" sz="1100" dirty="0"/>
          </a:p>
        </p:txBody>
      </p:sp>
      <p:sp>
        <p:nvSpPr>
          <p:cNvPr id="3" name="Text 1"/>
          <p:cNvSpPr/>
          <p:nvPr/>
        </p:nvSpPr>
        <p:spPr>
          <a:xfrm>
            <a:off x="640080" y="457200"/>
            <a:ext cx="10881360" cy="73152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Conclusion</a:t>
            </a:r>
            <a:endParaRPr lang="en-US" sz="3200" dirty="0"/>
          </a:p>
        </p:txBody>
      </p:sp>
      <p:sp>
        <p:nvSpPr>
          <p:cNvPr id="4" name="Shape 2"/>
          <p:cNvSpPr/>
          <p:nvPr/>
        </p:nvSpPr>
        <p:spPr>
          <a:xfrm>
            <a:off x="640080" y="1965960"/>
            <a:ext cx="10908792" cy="2743200"/>
          </a:xfrm>
          <a:prstGeom prst="roundRect">
            <a:avLst>
              <a:gd name="adj" fmla="val 4000"/>
            </a:avLst>
          </a:prstGeom>
          <a:solidFill>
            <a:srgbClr val="EEF2FA"/>
          </a:solidFill>
          <a:ln/>
        </p:spPr>
      </p:sp>
      <p:pic>
        <p:nvPicPr>
          <p:cNvPr id="5" name="Image 0" descr="/home/claude/assets/chartbar_navy.png">    </p:cNvPr>
          <p:cNvPicPr>
            <a:picLocks noChangeAspect="1"/>
          </p:cNvPicPr>
          <p:nvPr/>
        </p:nvPicPr>
        <p:blipFill>
          <a:blip r:embed="rId1"/>
          <a:stretch>
            <a:fillRect/>
          </a:stretch>
        </p:blipFill>
        <p:spPr>
          <a:xfrm>
            <a:off x="1051560" y="2377440"/>
            <a:ext cx="640080" cy="640080"/>
          </a:xfrm>
          <a:prstGeom prst="rect">
            <a:avLst/>
          </a:prstGeom>
        </p:spPr>
      </p:pic>
      <p:sp>
        <p:nvSpPr>
          <p:cNvPr id="6" name="Text 3"/>
          <p:cNvSpPr/>
          <p:nvPr/>
        </p:nvSpPr>
        <p:spPr>
          <a:xfrm>
            <a:off x="1920240" y="2286000"/>
            <a:ext cx="9235440" cy="2194560"/>
          </a:xfrm>
          <a:prstGeom prst="rect">
            <a:avLst/>
          </a:prstGeom>
          <a:noFill/>
          <a:ln/>
        </p:spPr>
        <p:txBody>
          <a:bodyPr wrap="square" rtlCol="0" anchor="ctr"/>
          <a:lstStyle/>
          <a:p>
            <a:pPr indent="0" marL="0">
              <a:lnSpc>
                <a:spcPts val="2600"/>
              </a:lnSpc>
              <a:buNone/>
            </a:pPr>
            <a:r>
              <a:rPr lang="en-US" sz="1700" dirty="0">
                <a:solidFill>
                  <a:srgbClr val="1E2761"/>
                </a:solidFill>
                <a:latin typeface="Calibri" pitchFamily="34" charset="0"/>
                <a:ea typeface="Calibri" pitchFamily="34" charset="-122"/>
                <a:cs typeface="Calibri" pitchFamily="34" charset="-120"/>
              </a:rPr>
              <a:t>This project analyzed 5.93 million Cyclistic rides to understand behavioral differences between annual members and casual riders. The insights provide practical recommendations that can help increase annual memberships and support business growth.</a:t>
            </a:r>
            <a:endParaRPr lang="en-US" sz="1700" dirty="0"/>
          </a:p>
        </p:txBody>
      </p:sp>
      <p:sp>
        <p:nvSpPr>
          <p:cNvPr id="7" name="Text 4"/>
          <p:cNvSpPr/>
          <p:nvPr/>
        </p:nvSpPr>
        <p:spPr>
          <a:xfrm>
            <a:off x="457200" y="6473952"/>
            <a:ext cx="5486400" cy="274320"/>
          </a:xfrm>
          <a:prstGeom prst="rect">
            <a:avLst/>
          </a:prstGeom>
          <a:noFill/>
          <a:ln/>
        </p:spPr>
        <p:txBody>
          <a:bodyPr wrap="square" rtlCol="0" anchor="ctr"/>
          <a:lstStyle/>
          <a:p>
            <a:pPr algn="l" indent="0" marL="0">
              <a:buNone/>
            </a:pPr>
            <a:r>
              <a:rPr lang="en-US" sz="900" spc="150" kern="0" dirty="0">
                <a:solidFill>
                  <a:srgbClr val="6B7280"/>
                </a:solidFill>
                <a:latin typeface="Calibri" pitchFamily="34" charset="0"/>
                <a:ea typeface="Calibri" pitchFamily="34" charset="-122"/>
                <a:cs typeface="Calibri" pitchFamily="34" charset="-120"/>
              </a:rPr>
              <a:t>CYCLISTIC BIKE SHARE ANALYSIS</a:t>
            </a:r>
            <a:endParaRPr lang="en-US" sz="900" dirty="0"/>
          </a:p>
        </p:txBody>
      </p:sp>
      <p:sp>
        <p:nvSpPr>
          <p:cNvPr id="8" name="Text 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EEF2FA"/>
          </a:solidFill>
          <a:ln/>
        </p:spPr>
      </p:sp>
      <p:sp>
        <p:nvSpPr>
          <p:cNvPr id="3" name="Shape 1"/>
          <p:cNvSpPr/>
          <p:nvPr/>
        </p:nvSpPr>
        <p:spPr>
          <a:xfrm>
            <a:off x="-1554480" y="-1554480"/>
            <a:ext cx="3657600" cy="3657600"/>
          </a:xfrm>
          <a:prstGeom prst="ellipse">
            <a:avLst/>
          </a:prstGeom>
          <a:solidFill>
            <a:srgbClr val="CADCFC"/>
          </a:solidFill>
          <a:ln/>
        </p:spPr>
      </p:sp>
      <p:sp>
        <p:nvSpPr>
          <p:cNvPr id="4" name="Shape 2"/>
          <p:cNvSpPr/>
          <p:nvPr/>
        </p:nvSpPr>
        <p:spPr>
          <a:xfrm>
            <a:off x="5134356" y="1417320"/>
            <a:ext cx="1920240" cy="1920240"/>
          </a:xfrm>
          <a:prstGeom prst="ellipse">
            <a:avLst/>
          </a:prstGeom>
          <a:solidFill>
            <a:srgbClr val="FFFFFF"/>
          </a:solidFill>
          <a:ln w="31750">
            <a:solidFill>
              <a:srgbClr val="1E2761"/>
            </a:solidFill>
            <a:prstDash val="solid"/>
          </a:ln>
          <a:effectLst>
            <a:outerShdw sx="100000" sy="100000" kx="0" ky="0" algn="bl" rotWithShape="0" blurRad="203200" dist="63500" dir="5400000">
              <a:srgbClr val="1E2761">
                <a:alpha val="22000"/>
              </a:srgbClr>
            </a:outerShdw>
          </a:effectLst>
        </p:spPr>
      </p:sp>
      <p:pic>
        <p:nvPicPr>
          <p:cNvPr id="5" name="Image 0" descr="/home/claude/assets/bike_icon.png">    </p:cNvPr>
          <p:cNvPicPr>
            <a:picLocks noChangeAspect="1"/>
          </p:cNvPicPr>
          <p:nvPr/>
        </p:nvPicPr>
        <p:blipFill>
          <a:blip r:embed="rId1"/>
          <a:stretch>
            <a:fillRect/>
          </a:stretch>
        </p:blipFill>
        <p:spPr>
          <a:xfrm>
            <a:off x="5500116" y="1783080"/>
            <a:ext cx="1188720" cy="1188720"/>
          </a:xfrm>
          <a:prstGeom prst="rect">
            <a:avLst/>
          </a:prstGeom>
        </p:spPr>
      </p:pic>
      <p:sp>
        <p:nvSpPr>
          <p:cNvPr id="6" name="Text 3"/>
          <p:cNvSpPr/>
          <p:nvPr/>
        </p:nvSpPr>
        <p:spPr>
          <a:xfrm>
            <a:off x="0" y="3703320"/>
            <a:ext cx="12188952" cy="914400"/>
          </a:xfrm>
          <a:prstGeom prst="rect">
            <a:avLst/>
          </a:prstGeom>
          <a:noFill/>
          <a:ln/>
        </p:spPr>
        <p:txBody>
          <a:bodyPr wrap="square" rtlCol="0" anchor="ctr"/>
          <a:lstStyle/>
          <a:p>
            <a:pPr algn="ctr" indent="0" marL="0">
              <a:buNone/>
            </a:pPr>
            <a:r>
              <a:rPr lang="en-US" sz="4400" b="1" dirty="0">
                <a:solidFill>
                  <a:srgbClr val="1E2761"/>
                </a:solidFill>
                <a:latin typeface="Cambria" pitchFamily="34" charset="0"/>
                <a:ea typeface="Cambria" pitchFamily="34" charset="-122"/>
                <a:cs typeface="Cambria" pitchFamily="34" charset="-120"/>
              </a:rPr>
              <a:t>THANK YOU</a:t>
            </a:r>
            <a:endParaRPr lang="en-US" sz="4400" dirty="0"/>
          </a:p>
        </p:txBody>
      </p:sp>
      <p:sp>
        <p:nvSpPr>
          <p:cNvPr id="7" name="Text 4"/>
          <p:cNvSpPr/>
          <p:nvPr/>
        </p:nvSpPr>
        <p:spPr>
          <a:xfrm>
            <a:off x="0" y="4526280"/>
            <a:ext cx="12188952" cy="457200"/>
          </a:xfrm>
          <a:prstGeom prst="rect">
            <a:avLst/>
          </a:prstGeom>
          <a:noFill/>
          <a:ln/>
        </p:spPr>
        <p:txBody>
          <a:bodyPr wrap="square"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Cyclistic Bike Share Analysis  •  Abhirami Ananthakumar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